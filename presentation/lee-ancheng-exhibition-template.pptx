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Rectangle 1"/>
          <p:cNvSpPr/>
          <p:nvPr/>
        </p:nvSpPr>
        <p:spPr>
          <a:xfrm>
            <a:off x="0" y="0"/>
            <a:ext cx="365760" cy="6858000"/>
          </a:xfrm>
          <a:prstGeom prst="rect">
            <a:avLst/>
          </a:prstGeom>
          <a:solidFill>
            <a:srgbClr val="1C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2011680"/>
            <a:ext cx="9144000" cy="2743200"/>
          </a:xfrm>
          <a:prstGeom prst="rect">
            <a:avLst/>
          </a:prstGeom>
          <a:noFill/>
        </p:spPr>
        <p:txBody>
          <a:bodyPr wrap="square">
            <a:spAutoFit/>
          </a:bodyPr>
          <a:lstStyle/>
          <a:p>
            <a:pPr>
              <a:spcAft>
                <a:spcPts val="800"/>
              </a:spcAft>
            </a:pPr>
            <a:r>
              <a:rPr sz="1200" b="1" i="0">
                <a:solidFill>
                  <a:srgbClr val="B22222"/>
                </a:solidFill>
                <a:latin typeface="Arial"/>
              </a:rPr>
              <a:t>[ ENTER PRESENTATION CATEGORY / BRAND SUBTITLE ]</a:t>
            </a:r>
          </a:p>
          <a:p>
            <a:pPr>
              <a:spcAft>
                <a:spcPts val="1400"/>
              </a:spcAft>
            </a:pPr>
            <a:r>
              <a:rPr sz="4400" b="1" i="0">
                <a:solidFill>
                  <a:srgbClr val="1C1C1C"/>
                </a:solidFill>
                <a:latin typeface="Georgia"/>
              </a:rPr>
              <a:t>[ YOUR MAIN EXHIBITION OR PROJECT TITLE HERE ]</a:t>
            </a:r>
          </a:p>
          <a:p>
            <a:r>
              <a:rPr sz="1500" b="0" i="1">
                <a:solidFill>
                  <a:srgbClr val="8C8C8C"/>
                </a:solidFill>
                <a:latin typeface="Arial"/>
              </a:rPr>
              <a:t>[ Enter a short, evocative descriptive subtitle summarizing the core narrative of this presentation template ]</a:t>
            </a:r>
          </a:p>
        </p:txBody>
      </p:sp>
      <p:sp>
        <p:nvSpPr>
          <p:cNvPr id="4" name="Rectangle 3"/>
          <p:cNvSpPr/>
          <p:nvPr/>
        </p:nvSpPr>
        <p:spPr>
          <a:xfrm>
            <a:off x="10972800" y="5669280"/>
            <a:ext cx="548640" cy="548640"/>
          </a:xfrm>
          <a:prstGeom prst="rect">
            <a:avLst/>
          </a:prstGeom>
          <a:solidFill>
            <a:srgbClr val="B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009376" y="5705856"/>
            <a:ext cx="475488" cy="475488"/>
          </a:xfrm>
          <a:prstGeom prst="rect">
            <a:avLst/>
          </a:prstGeom>
          <a:noFill/>
          <a:ln w="12700">
            <a:solidFill>
              <a:srgbClr val="B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11111"/>
        </a:solidFill>
        <a:effectLst/>
      </p:bgPr>
    </p:bg>
    <p:spTree>
      <p:nvGrpSpPr>
        <p:cNvPr id="1" name=""/>
        <p:cNvGrpSpPr/>
        <p:nvPr/>
      </p:nvGrpSpPr>
      <p:grpSpPr/>
      <p:sp>
        <p:nvSpPr>
          <p:cNvPr id="2" name="Rectangle 1"/>
          <p:cNvSpPr/>
          <p:nvPr/>
        </p:nvSpPr>
        <p:spPr>
          <a:xfrm>
            <a:off x="1097280" y="2286000"/>
            <a:ext cx="457200" cy="457200"/>
          </a:xfrm>
          <a:prstGeom prst="rect">
            <a:avLst/>
          </a:prstGeom>
          <a:solidFill>
            <a:srgbClr val="B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133856" y="2322576"/>
            <a:ext cx="384048" cy="384048"/>
          </a:xfrm>
          <a:prstGeom prst="rect">
            <a:avLst/>
          </a:prstGeom>
          <a:noFill/>
          <a:ln w="12700">
            <a:solidFill>
              <a:srgbClr val="B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2926080"/>
            <a:ext cx="10058400" cy="2286000"/>
          </a:xfrm>
          <a:prstGeom prst="rect">
            <a:avLst/>
          </a:prstGeom>
          <a:noFill/>
        </p:spPr>
        <p:txBody>
          <a:bodyPr wrap="square">
            <a:spAutoFit/>
          </a:bodyPr>
          <a:lstStyle/>
          <a:p>
            <a:pPr>
              <a:spcAft>
                <a:spcPts val="400"/>
              </a:spcAft>
            </a:pPr>
            <a:r>
              <a:rPr sz="1200" b="1" i="0">
                <a:solidFill>
                  <a:srgbClr val="B22222"/>
                </a:solidFill>
                <a:latin typeface="Arial"/>
              </a:rPr>
              <a:t>SECTION 01</a:t>
            </a:r>
          </a:p>
          <a:p>
            <a:pPr>
              <a:spcAft>
                <a:spcPts val="800"/>
              </a:spcAft>
            </a:pPr>
            <a:r>
              <a:rPr sz="3800" b="1" i="0">
                <a:solidFill>
                  <a:srgbClr val="FAF9F6"/>
                </a:solidFill>
                <a:latin typeface="Georgia"/>
              </a:rPr>
              <a:t>[ INSERT SECTION NAME / TOPIC TRANSITION ]</a:t>
            </a:r>
          </a:p>
          <a:p>
            <a:r>
              <a:rPr sz="1400" b="0" i="1">
                <a:solidFill>
                  <a:srgbClr val="8C8C8C"/>
                </a:solidFill>
                <a:latin typeface="Arial"/>
              </a:rPr>
              <a:t>[ Provide a brief transition description explaining what this upcoming chapter covers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TextBox 1"/>
          <p:cNvSpPr txBox="1"/>
          <p:nvPr/>
        </p:nvSpPr>
        <p:spPr>
          <a:xfrm>
            <a:off x="457200" y="365760"/>
            <a:ext cx="11277295" cy="1005840"/>
          </a:xfrm>
          <a:prstGeom prst="rect">
            <a:avLst/>
          </a:prstGeom>
          <a:noFill/>
        </p:spPr>
        <p:txBody>
          <a:bodyPr wrap="square" lIns="0" tIns="0">
            <a:spAutoFit/>
          </a:bodyPr>
          <a:lstStyle/>
          <a:p>
            <a:pPr>
              <a:spcAft>
                <a:spcPts val="200"/>
              </a:spcAft>
            </a:pPr>
            <a:r>
              <a:rPr sz="1000" b="1" i="0">
                <a:solidFill>
                  <a:srgbClr val="B22222"/>
                </a:solidFill>
                <a:latin typeface="Arial"/>
              </a:rPr>
              <a:t>LAYOUT STYLES</a:t>
            </a:r>
          </a:p>
          <a:p>
            <a:pPr>
              <a:spcAft>
                <a:spcPts val="600"/>
              </a:spcAft>
            </a:pPr>
            <a:r>
              <a:rPr sz="2800" b="1" i="0">
                <a:solidFill>
                  <a:srgbClr val="1C1C1C"/>
                </a:solidFill>
                <a:latin typeface="Georgia"/>
              </a:rPr>
              <a:t>[ 01 / Standard One-Column Content Template ]</a:t>
            </a:r>
          </a:p>
        </p:txBody>
      </p:sp>
      <p:sp>
        <p:nvSpPr>
          <p:cNvPr id="3" name="Rectangle 2"/>
          <p:cNvSpPr/>
          <p:nvPr/>
        </p:nvSpPr>
        <p:spPr>
          <a:xfrm>
            <a:off x="457200" y="1280160"/>
            <a:ext cx="11277295" cy="12700"/>
          </a:xfrm>
          <a:prstGeom prst="rect">
            <a:avLst/>
          </a:prstGeom>
          <a:solidFill>
            <a:srgbClr val="8C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0"/>
            <a:ext cx="11277295" cy="4389120"/>
          </a:xfrm>
          <a:prstGeom prst="rect">
            <a:avLst/>
          </a:prstGeom>
          <a:noFill/>
        </p:spPr>
        <p:txBody>
          <a:bodyPr wrap="square">
            <a:spAutoFit/>
          </a:bodyPr>
          <a:lstStyle/>
          <a:p>
            <a:pPr>
              <a:spcAft>
                <a:spcPts val="1000"/>
              </a:spcAft>
            </a:pPr>
            <a:r>
              <a:rPr sz="2200" b="1" i="0">
                <a:solidFill>
                  <a:srgbClr val="1C1C1C"/>
                </a:solidFill>
                <a:latin typeface="Georgia"/>
              </a:rPr>
              <a:t>[ Heading: Insert Core Message / Key Insight Here ]</a:t>
            </a:r>
          </a:p>
          <a:p>
            <a:pPr>
              <a:spcAft>
                <a:spcPts val="1400"/>
              </a:spcAft>
            </a:pPr>
            <a:r>
              <a:rPr sz="1500" b="0" i="0">
                <a:solidFill>
                  <a:srgbClr val="1C1C1C"/>
                </a:solidFill>
                <a:latin typeface="Arial"/>
              </a:rPr>
              <a:t>[ Insert structured paragraph text here. Keep lines of text short and direct to support clean whitespace. Traditional ink wash values favor extreme brevity, using empty space on the slide to guide the audience's attention to the most vital core concept. You can write 2-3 concise sentences detailing your main point. ]</a:t>
            </a:r>
          </a:p>
          <a:p>
            <a:pPr lvl="1">
              <a:spcAft>
                <a:spcPts val="800"/>
              </a:spcAft>
            </a:pPr>
            <a:r>
              <a:rPr sz="1400" b="0" i="0">
                <a:solidFill>
                  <a:srgbClr val="1C1C1C"/>
                </a:solidFill>
                <a:latin typeface="Arial"/>
              </a:rPr>
              <a:t>•  [ Key Point 1: Enter a highly relevant supporting detail, statistic, or feature ]</a:t>
            </a:r>
          </a:p>
          <a:p>
            <a:pPr lvl="1">
              <a:spcAft>
                <a:spcPts val="800"/>
              </a:spcAft>
            </a:pPr>
            <a:r>
              <a:rPr sz="1400" b="0" i="0">
                <a:solidFill>
                  <a:srgbClr val="1C1C1C"/>
                </a:solidFill>
                <a:latin typeface="Arial"/>
              </a:rPr>
              <a:t>•  [ Key Point 2: Enter another piece of supporting evidence or structural feature ]</a:t>
            </a:r>
          </a:p>
          <a:p>
            <a:pPr lvl="1">
              <a:spcAft>
                <a:spcPts val="800"/>
              </a:spcAft>
            </a:pPr>
            <a:r>
              <a:rPr sz="1400" b="0" i="0">
                <a:solidFill>
                  <a:srgbClr val="1C1C1C"/>
                </a:solidFill>
                <a:latin typeface="Arial"/>
              </a:rPr>
              <a:t>•  [ Key Point 3: Enter an action item, concluding statement, or next step ]</a:t>
            </a:r>
          </a:p>
        </p:txBody>
      </p:sp>
      <p:sp>
        <p:nvSpPr>
          <p:cNvPr id="5" name="Rectangle 4"/>
          <p:cNvSpPr/>
          <p:nvPr/>
        </p:nvSpPr>
        <p:spPr>
          <a:xfrm>
            <a:off x="11247120" y="5943600"/>
            <a:ext cx="411480" cy="411480"/>
          </a:xfrm>
          <a:prstGeom prst="rect">
            <a:avLst/>
          </a:prstGeom>
          <a:solidFill>
            <a:srgbClr val="B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1283696" y="5980176"/>
            <a:ext cx="338328" cy="338328"/>
          </a:xfrm>
          <a:prstGeom prst="rect">
            <a:avLst/>
          </a:prstGeom>
          <a:noFill/>
          <a:ln w="12700">
            <a:solidFill>
              <a:srgbClr val="B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TextBox 1"/>
          <p:cNvSpPr txBox="1"/>
          <p:nvPr/>
        </p:nvSpPr>
        <p:spPr>
          <a:xfrm>
            <a:off x="457200" y="365760"/>
            <a:ext cx="11277295" cy="1005840"/>
          </a:xfrm>
          <a:prstGeom prst="rect">
            <a:avLst/>
          </a:prstGeom>
          <a:noFill/>
        </p:spPr>
        <p:txBody>
          <a:bodyPr wrap="square" lIns="0" tIns="0">
            <a:spAutoFit/>
          </a:bodyPr>
          <a:lstStyle/>
          <a:p>
            <a:pPr>
              <a:spcAft>
                <a:spcPts val="200"/>
              </a:spcAft>
            </a:pPr>
            <a:r>
              <a:rPr sz="1000" b="1" i="0">
                <a:solidFill>
                  <a:srgbClr val="B22222"/>
                </a:solidFill>
                <a:latin typeface="Arial"/>
              </a:rPr>
              <a:t>LAYOUT STYLES</a:t>
            </a:r>
          </a:p>
          <a:p>
            <a:pPr>
              <a:spcAft>
                <a:spcPts val="600"/>
              </a:spcAft>
            </a:pPr>
            <a:r>
              <a:rPr sz="2800" b="1" i="0">
                <a:solidFill>
                  <a:srgbClr val="1C1C1C"/>
                </a:solidFill>
                <a:latin typeface="Georgia"/>
              </a:rPr>
              <a:t>[ 02 / Standard Two-Column Content Template ]</a:t>
            </a:r>
          </a:p>
        </p:txBody>
      </p:sp>
      <p:sp>
        <p:nvSpPr>
          <p:cNvPr id="3" name="Rectangle 2"/>
          <p:cNvSpPr/>
          <p:nvPr/>
        </p:nvSpPr>
        <p:spPr>
          <a:xfrm>
            <a:off x="457200" y="1280160"/>
            <a:ext cx="11277295" cy="12700"/>
          </a:xfrm>
          <a:prstGeom prst="rect">
            <a:avLst/>
          </a:prstGeom>
          <a:solidFill>
            <a:srgbClr val="8C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0"/>
            <a:ext cx="5303520" cy="4389120"/>
          </a:xfrm>
          <a:prstGeom prst="rect">
            <a:avLst/>
          </a:prstGeom>
          <a:noFill/>
        </p:spPr>
        <p:txBody>
          <a:bodyPr wrap="square">
            <a:spAutoFit/>
          </a:bodyPr>
          <a:lstStyle/>
          <a:p>
            <a:pPr>
              <a:spcAft>
                <a:spcPts val="1000"/>
              </a:spcAft>
            </a:pPr>
            <a:r>
              <a:rPr sz="1800" b="1" i="0">
                <a:solidFill>
                  <a:srgbClr val="B22222"/>
                </a:solidFill>
                <a:latin typeface="Georgia"/>
              </a:rPr>
              <a:t>[ COLUMN ONE: PRIMARY POINT ]</a:t>
            </a:r>
          </a:p>
          <a:p>
            <a:r>
              <a:rPr sz="1400" b="0" i="0">
                <a:solidFill>
                  <a:srgbClr val="1C1C1C"/>
                </a:solidFill>
                <a:latin typeface="Arial"/>
              </a:rPr>
              <a:t>[ Insert structural text or descriptions for your first vertical column here. Ideal for describing primary conditions, artist techniques, or problem statements. ]</a:t>
            </a:r>
          </a:p>
        </p:txBody>
      </p:sp>
      <p:sp>
        <p:nvSpPr>
          <p:cNvPr id="5" name="TextBox 4"/>
          <p:cNvSpPr txBox="1"/>
          <p:nvPr/>
        </p:nvSpPr>
        <p:spPr>
          <a:xfrm>
            <a:off x="6400800" y="1645920"/>
            <a:ext cx="5303520" cy="4389120"/>
          </a:xfrm>
          <a:prstGeom prst="rect">
            <a:avLst/>
          </a:prstGeom>
          <a:noFill/>
        </p:spPr>
        <p:txBody>
          <a:bodyPr wrap="square">
            <a:spAutoFit/>
          </a:bodyPr>
          <a:lstStyle/>
          <a:p>
            <a:pPr>
              <a:spcAft>
                <a:spcPts val="1000"/>
              </a:spcAft>
            </a:pPr>
            <a:r>
              <a:rPr sz="1800" b="1" i="0">
                <a:solidFill>
                  <a:srgbClr val="1C1C1C"/>
                </a:solidFill>
                <a:latin typeface="Georgia"/>
              </a:rPr>
              <a:t>[ COLUMN TWO: SECONDARY POINT ]</a:t>
            </a:r>
          </a:p>
          <a:p>
            <a:r>
              <a:rPr sz="1400" b="0" i="0">
                <a:solidFill>
                  <a:srgbClr val="1C1C1C"/>
                </a:solidFill>
                <a:latin typeface="Arial"/>
              </a:rPr>
              <a:t>[ Insert complementary text or details for your second column here. Good for comparing alternative views, listing solutions, or mapping physical transit rules. ]</a:t>
            </a:r>
          </a:p>
        </p:txBody>
      </p:sp>
      <p:sp>
        <p:nvSpPr>
          <p:cNvPr id="6" name="Rectangle 5"/>
          <p:cNvSpPr/>
          <p:nvPr/>
        </p:nvSpPr>
        <p:spPr>
          <a:xfrm>
            <a:off x="11247120" y="5943600"/>
            <a:ext cx="411480" cy="411480"/>
          </a:xfrm>
          <a:prstGeom prst="rect">
            <a:avLst/>
          </a:prstGeom>
          <a:solidFill>
            <a:srgbClr val="B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1283696" y="5980176"/>
            <a:ext cx="338328" cy="338328"/>
          </a:xfrm>
          <a:prstGeom prst="rect">
            <a:avLst/>
          </a:prstGeom>
          <a:noFill/>
          <a:ln w="12700">
            <a:solidFill>
              <a:srgbClr val="B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TextBox 1"/>
          <p:cNvSpPr txBox="1"/>
          <p:nvPr/>
        </p:nvSpPr>
        <p:spPr>
          <a:xfrm>
            <a:off x="1371600" y="2011680"/>
            <a:ext cx="9445752" cy="2926080"/>
          </a:xfrm>
          <a:prstGeom prst="rect">
            <a:avLst/>
          </a:prstGeom>
          <a:noFill/>
        </p:spPr>
        <p:txBody>
          <a:bodyPr wrap="square">
            <a:spAutoFit/>
          </a:bodyPr>
          <a:lstStyle/>
          <a:p>
            <a:pPr>
              <a:spcAft>
                <a:spcPts val="1400"/>
              </a:spcAft>
            </a:pPr>
            <a:r>
              <a:rPr sz="3000" b="0" i="1">
                <a:solidFill>
                  <a:srgbClr val="1C1C1C"/>
                </a:solidFill>
                <a:latin typeface="Georgia"/>
              </a:rPr>
              <a:t>“ [ Insert a powerful quotation, core philosophy, or single guiding mission statement here that commands complete focus on this minimal canvas ] ”</a:t>
            </a:r>
          </a:p>
          <a:p>
            <a:r>
              <a:rPr sz="1400" b="1" i="0">
                <a:solidFill>
                  <a:srgbClr val="B22222"/>
                </a:solidFill>
                <a:latin typeface="Arial"/>
              </a:rPr>
              <a:t>— [ AUTHOR NAME OR PHILOSOPHICAL SOURCE ]</a:t>
            </a:r>
          </a:p>
        </p:txBody>
      </p:sp>
      <p:sp>
        <p:nvSpPr>
          <p:cNvPr id="3" name="Rectangle 2"/>
          <p:cNvSpPr/>
          <p:nvPr/>
        </p:nvSpPr>
        <p:spPr>
          <a:xfrm>
            <a:off x="457200" y="5303520"/>
            <a:ext cx="11277295" cy="12700"/>
          </a:xfrm>
          <a:prstGeom prst="rect">
            <a:avLst/>
          </a:prstGeom>
          <a:solidFill>
            <a:srgbClr val="8C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515600" y="4572000"/>
            <a:ext cx="457200" cy="457200"/>
          </a:xfrm>
          <a:prstGeom prst="rect">
            <a:avLst/>
          </a:prstGeom>
          <a:solidFill>
            <a:srgbClr val="B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0552176" y="4608576"/>
            <a:ext cx="384048" cy="384048"/>
          </a:xfrm>
          <a:prstGeom prst="rect">
            <a:avLst/>
          </a:prstGeom>
          <a:noFill/>
          <a:ln w="12700">
            <a:solidFill>
              <a:srgbClr val="B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TextBox 1"/>
          <p:cNvSpPr txBox="1"/>
          <p:nvPr/>
        </p:nvSpPr>
        <p:spPr>
          <a:xfrm>
            <a:off x="457200" y="365760"/>
            <a:ext cx="11277295" cy="1005840"/>
          </a:xfrm>
          <a:prstGeom prst="rect">
            <a:avLst/>
          </a:prstGeom>
          <a:noFill/>
        </p:spPr>
        <p:txBody>
          <a:bodyPr wrap="square" lIns="0" tIns="0">
            <a:spAutoFit/>
          </a:bodyPr>
          <a:lstStyle/>
          <a:p>
            <a:pPr>
              <a:spcAft>
                <a:spcPts val="200"/>
              </a:spcAft>
            </a:pPr>
            <a:r>
              <a:rPr sz="1000" b="1" i="0">
                <a:solidFill>
                  <a:srgbClr val="B22222"/>
                </a:solidFill>
                <a:latin typeface="Arial"/>
              </a:rPr>
              <a:t>TIMELINE LAYOUTS</a:t>
            </a:r>
          </a:p>
          <a:p>
            <a:pPr>
              <a:spcAft>
                <a:spcPts val="600"/>
              </a:spcAft>
            </a:pPr>
            <a:r>
              <a:rPr sz="2800" b="1" i="0">
                <a:solidFill>
                  <a:srgbClr val="1C1C1C"/>
                </a:solidFill>
                <a:latin typeface="Georgia"/>
              </a:rPr>
              <a:t>[ Project Roadmap &amp; Chronology Template ]</a:t>
            </a:r>
          </a:p>
        </p:txBody>
      </p:sp>
      <p:sp>
        <p:nvSpPr>
          <p:cNvPr id="3" name="Rectangle 2"/>
          <p:cNvSpPr/>
          <p:nvPr/>
        </p:nvSpPr>
        <p:spPr>
          <a:xfrm>
            <a:off x="457200" y="1280160"/>
            <a:ext cx="11277295" cy="12700"/>
          </a:xfrm>
          <a:prstGeom prst="rect">
            <a:avLst/>
          </a:prstGeom>
          <a:solidFill>
            <a:srgbClr val="8C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2743200"/>
            <a:ext cx="11277295" cy="25400"/>
          </a:xfrm>
          <a:prstGeom prst="rect">
            <a:avLst/>
          </a:prstGeom>
          <a:solidFill>
            <a:srgbClr val="8C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554480" y="2606040"/>
            <a:ext cx="320040" cy="320040"/>
          </a:xfrm>
          <a:prstGeom prst="ellipse">
            <a:avLst/>
          </a:prstGeom>
          <a:solidFill>
            <a:srgbClr val="1C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926080"/>
            <a:ext cx="2560320" cy="1828800"/>
          </a:xfrm>
          <a:prstGeom prst="rect">
            <a:avLst/>
          </a:prstGeom>
          <a:noFill/>
        </p:spPr>
        <p:txBody>
          <a:bodyPr wrap="square">
            <a:spAutoFit/>
          </a:bodyPr>
          <a:lstStyle/>
          <a:p>
            <a:pPr>
              <a:spcAft>
                <a:spcPts val="200"/>
              </a:spcAft>
            </a:pPr>
            <a:r>
              <a:rPr sz="1100" b="1" i="0">
                <a:solidFill>
                  <a:srgbClr val="8C8C8C"/>
                </a:solidFill>
                <a:latin typeface="Arial"/>
              </a:rPr>
              <a:t>PHASE 01</a:t>
            </a:r>
          </a:p>
          <a:p>
            <a:pPr>
              <a:spcAft>
                <a:spcPts val="400"/>
              </a:spcAft>
            </a:pPr>
            <a:r>
              <a:rPr sz="1600" b="1" i="0">
                <a:solidFill>
                  <a:srgbClr val="1C1C1C"/>
                </a:solidFill>
                <a:latin typeface="Georgia"/>
              </a:rPr>
              <a:t>[ Phase Title 01 ]</a:t>
            </a:r>
          </a:p>
          <a:p>
            <a:r>
              <a:rPr sz="1200" b="0" i="0">
                <a:solidFill>
                  <a:srgbClr val="1C1C1C"/>
                </a:solidFill>
                <a:latin typeface="Arial"/>
              </a:rPr>
              <a:t>[ Sept: Insert database schema setup, secure hosting configuration, and raw bulk asset imports ]</a:t>
            </a:r>
          </a:p>
        </p:txBody>
      </p:sp>
      <p:sp>
        <p:nvSpPr>
          <p:cNvPr id="7" name="Oval 6"/>
          <p:cNvSpPr/>
          <p:nvPr/>
        </p:nvSpPr>
        <p:spPr>
          <a:xfrm>
            <a:off x="4389120" y="2606040"/>
            <a:ext cx="320040" cy="320040"/>
          </a:xfrm>
          <a:prstGeom prst="ellipse">
            <a:avLst/>
          </a:prstGeom>
          <a:solidFill>
            <a:srgbClr val="1C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91840" y="2926080"/>
            <a:ext cx="2560320" cy="1828800"/>
          </a:xfrm>
          <a:prstGeom prst="rect">
            <a:avLst/>
          </a:prstGeom>
          <a:noFill/>
        </p:spPr>
        <p:txBody>
          <a:bodyPr wrap="square">
            <a:spAutoFit/>
          </a:bodyPr>
          <a:lstStyle/>
          <a:p>
            <a:pPr>
              <a:spcAft>
                <a:spcPts val="200"/>
              </a:spcAft>
            </a:pPr>
            <a:r>
              <a:rPr sz="1100" b="1" i="0">
                <a:solidFill>
                  <a:srgbClr val="8C8C8C"/>
                </a:solidFill>
                <a:latin typeface="Arial"/>
              </a:rPr>
              <a:t>PHASE 02</a:t>
            </a:r>
          </a:p>
          <a:p>
            <a:pPr>
              <a:spcAft>
                <a:spcPts val="400"/>
              </a:spcAft>
            </a:pPr>
            <a:r>
              <a:rPr sz="1600" b="1" i="0">
                <a:solidFill>
                  <a:srgbClr val="1C1C1C"/>
                </a:solidFill>
                <a:latin typeface="Georgia"/>
              </a:rPr>
              <a:t>[ Phase Title 02 ]</a:t>
            </a:r>
          </a:p>
          <a:p>
            <a:r>
              <a:rPr sz="1200" b="0" i="0">
                <a:solidFill>
                  <a:srgbClr val="1C1C1C"/>
                </a:solidFill>
                <a:latin typeface="Arial"/>
              </a:rPr>
              <a:t>[ Oct: Insert admin portal creation, role configuration, and secure ownership transit logging ]</a:t>
            </a:r>
          </a:p>
        </p:txBody>
      </p:sp>
      <p:sp>
        <p:nvSpPr>
          <p:cNvPr id="9" name="Oval 8"/>
          <p:cNvSpPr/>
          <p:nvPr/>
        </p:nvSpPr>
        <p:spPr>
          <a:xfrm>
            <a:off x="7223760" y="2606040"/>
            <a:ext cx="320040" cy="320040"/>
          </a:xfrm>
          <a:prstGeom prst="ellipse">
            <a:avLst/>
          </a:prstGeom>
          <a:solidFill>
            <a:srgbClr val="1C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26480" y="2926080"/>
            <a:ext cx="2560320" cy="1828800"/>
          </a:xfrm>
          <a:prstGeom prst="rect">
            <a:avLst/>
          </a:prstGeom>
          <a:noFill/>
        </p:spPr>
        <p:txBody>
          <a:bodyPr wrap="square">
            <a:spAutoFit/>
          </a:bodyPr>
          <a:lstStyle/>
          <a:p>
            <a:pPr>
              <a:spcAft>
                <a:spcPts val="200"/>
              </a:spcAft>
            </a:pPr>
            <a:r>
              <a:rPr sz="1100" b="1" i="0">
                <a:solidFill>
                  <a:srgbClr val="8C8C8C"/>
                </a:solidFill>
                <a:latin typeface="Arial"/>
              </a:rPr>
              <a:t>PHASE 03</a:t>
            </a:r>
          </a:p>
          <a:p>
            <a:pPr>
              <a:spcAft>
                <a:spcPts val="400"/>
              </a:spcAft>
            </a:pPr>
            <a:r>
              <a:rPr sz="1600" b="1" i="0">
                <a:solidFill>
                  <a:srgbClr val="1C1C1C"/>
                </a:solidFill>
                <a:latin typeface="Georgia"/>
              </a:rPr>
              <a:t>[ Phase Title 03 ]</a:t>
            </a:r>
          </a:p>
          <a:p>
            <a:r>
              <a:rPr sz="1200" b="0" i="0">
                <a:solidFill>
                  <a:srgbClr val="1C1C1C"/>
                </a:solidFill>
                <a:latin typeface="Arial"/>
              </a:rPr>
              <a:t>[ Nov: Insert public frontend design, interactive timeline, and showcase editor selection controls ]</a:t>
            </a:r>
          </a:p>
        </p:txBody>
      </p:sp>
      <p:sp>
        <p:nvSpPr>
          <p:cNvPr id="11" name="Oval 10"/>
          <p:cNvSpPr/>
          <p:nvPr/>
        </p:nvSpPr>
        <p:spPr>
          <a:xfrm>
            <a:off x="10058400" y="2606040"/>
            <a:ext cx="320040" cy="320040"/>
          </a:xfrm>
          <a:prstGeom prst="ellipse">
            <a:avLst/>
          </a:prstGeom>
          <a:solidFill>
            <a:srgbClr val="B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20" y="2926080"/>
            <a:ext cx="2560320" cy="1828800"/>
          </a:xfrm>
          <a:prstGeom prst="rect">
            <a:avLst/>
          </a:prstGeom>
          <a:noFill/>
        </p:spPr>
        <p:txBody>
          <a:bodyPr wrap="square">
            <a:spAutoFit/>
          </a:bodyPr>
          <a:lstStyle/>
          <a:p>
            <a:pPr>
              <a:spcAft>
                <a:spcPts val="200"/>
              </a:spcAft>
            </a:pPr>
            <a:r>
              <a:rPr sz="1100" b="1" i="0">
                <a:solidFill>
                  <a:srgbClr val="B22222"/>
                </a:solidFill>
                <a:latin typeface="Arial"/>
              </a:rPr>
              <a:t>PHASE 04</a:t>
            </a:r>
          </a:p>
          <a:p>
            <a:pPr>
              <a:spcAft>
                <a:spcPts val="400"/>
              </a:spcAft>
            </a:pPr>
            <a:r>
              <a:rPr sz="1600" b="1" i="0">
                <a:solidFill>
                  <a:srgbClr val="1C1C1C"/>
                </a:solidFill>
                <a:latin typeface="Georgia"/>
              </a:rPr>
              <a:t>[ Phase Title 04 ]</a:t>
            </a:r>
          </a:p>
          <a:p>
            <a:r>
              <a:rPr sz="1200" b="0" i="0">
                <a:solidFill>
                  <a:srgbClr val="1C1C1C"/>
                </a:solidFill>
                <a:latin typeface="Arial"/>
              </a:rPr>
              <a:t>[ Dec: Insert curated art text review buffer, platform stress-testing, and public launch ]</a:t>
            </a:r>
          </a:p>
        </p:txBody>
      </p:sp>
      <p:sp>
        <p:nvSpPr>
          <p:cNvPr id="13" name="Rectangle 12"/>
          <p:cNvSpPr/>
          <p:nvPr/>
        </p:nvSpPr>
        <p:spPr>
          <a:xfrm>
            <a:off x="11247120" y="5943600"/>
            <a:ext cx="411480" cy="411480"/>
          </a:xfrm>
          <a:prstGeom prst="rect">
            <a:avLst/>
          </a:prstGeom>
          <a:solidFill>
            <a:srgbClr val="B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1283696" y="5980176"/>
            <a:ext cx="338328" cy="338328"/>
          </a:xfrm>
          <a:prstGeom prst="rect">
            <a:avLst/>
          </a:prstGeom>
          <a:noFill/>
          <a:ln w="12700">
            <a:solidFill>
              <a:srgbClr val="B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TextBox 1"/>
          <p:cNvSpPr txBox="1"/>
          <p:nvPr/>
        </p:nvSpPr>
        <p:spPr>
          <a:xfrm>
            <a:off x="457200" y="365760"/>
            <a:ext cx="11277295" cy="1005840"/>
          </a:xfrm>
          <a:prstGeom prst="rect">
            <a:avLst/>
          </a:prstGeom>
          <a:noFill/>
        </p:spPr>
        <p:txBody>
          <a:bodyPr wrap="square" lIns="0" tIns="0">
            <a:spAutoFit/>
          </a:bodyPr>
          <a:lstStyle/>
          <a:p>
            <a:pPr>
              <a:spcAft>
                <a:spcPts val="200"/>
              </a:spcAft>
            </a:pPr>
            <a:r>
              <a:rPr sz="1000" b="1" i="0">
                <a:solidFill>
                  <a:srgbClr val="B22222"/>
                </a:solidFill>
                <a:latin typeface="Arial"/>
              </a:rPr>
              <a:t>TIMELINE LAYOUTS</a:t>
            </a:r>
          </a:p>
          <a:p>
            <a:pPr>
              <a:spcAft>
                <a:spcPts val="600"/>
              </a:spcAft>
            </a:pPr>
            <a:r>
              <a:rPr sz="2800" b="1" i="0">
                <a:solidFill>
                  <a:srgbClr val="1C1C1C"/>
                </a:solidFill>
                <a:latin typeface="Georgia"/>
              </a:rPr>
              <a:t>[ Historical Milestones / Vertical Timeline Template ]</a:t>
            </a:r>
          </a:p>
        </p:txBody>
      </p:sp>
      <p:sp>
        <p:nvSpPr>
          <p:cNvPr id="3" name="Rectangle 2"/>
          <p:cNvSpPr/>
          <p:nvPr/>
        </p:nvSpPr>
        <p:spPr>
          <a:xfrm>
            <a:off x="457200" y="1280160"/>
            <a:ext cx="11277295" cy="12700"/>
          </a:xfrm>
          <a:prstGeom prst="rect">
            <a:avLst/>
          </a:prstGeom>
          <a:solidFill>
            <a:srgbClr val="8C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828800" y="1645920"/>
            <a:ext cx="25400" cy="4114800"/>
          </a:xfrm>
          <a:prstGeom prst="rect">
            <a:avLst/>
          </a:prstGeom>
          <a:solidFill>
            <a:srgbClr val="8C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691640" y="1920240"/>
            <a:ext cx="274320" cy="274320"/>
          </a:xfrm>
          <a:prstGeom prst="ellipse">
            <a:avLst/>
          </a:prstGeom>
          <a:solidFill>
            <a:srgbClr val="1C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828800"/>
            <a:ext cx="1097280" cy="914400"/>
          </a:xfrm>
          <a:prstGeom prst="rect">
            <a:avLst/>
          </a:prstGeom>
          <a:noFill/>
        </p:spPr>
        <p:txBody>
          <a:bodyPr wrap="square">
            <a:spAutoFit/>
          </a:bodyPr>
          <a:lstStyle/>
          <a:p>
            <a:r>
              <a:rPr sz="1600" b="1" i="0">
                <a:solidFill>
                  <a:srgbClr val="B22222"/>
                </a:solidFill>
                <a:latin typeface="Georgia"/>
              </a:rPr>
              <a:t>ERA/YEAR 01</a:t>
            </a:r>
          </a:p>
        </p:txBody>
      </p:sp>
      <p:sp>
        <p:nvSpPr>
          <p:cNvPr id="7" name="TextBox 6"/>
          <p:cNvSpPr txBox="1"/>
          <p:nvPr/>
        </p:nvSpPr>
        <p:spPr>
          <a:xfrm>
            <a:off x="2286000" y="1828800"/>
            <a:ext cx="9144000" cy="1097280"/>
          </a:xfrm>
          <a:prstGeom prst="rect">
            <a:avLst/>
          </a:prstGeom>
          <a:noFill/>
        </p:spPr>
        <p:txBody>
          <a:bodyPr wrap="square">
            <a:spAutoFit/>
          </a:bodyPr>
          <a:lstStyle/>
          <a:p>
            <a:pPr>
              <a:spcAft>
                <a:spcPts val="200"/>
              </a:spcAft>
            </a:pPr>
            <a:r>
              <a:rPr sz="1800" b="1" i="0">
                <a:solidFill>
                  <a:srgbClr val="1C1C1C"/>
                </a:solidFill>
                <a:latin typeface="Georgia"/>
              </a:rPr>
              <a:t>[ Milestone Heading 01 ]</a:t>
            </a:r>
          </a:p>
          <a:p>
            <a:r>
              <a:rPr sz="1300" b="0" i="0">
                <a:solidFill>
                  <a:srgbClr val="1C1C1C"/>
                </a:solidFill>
                <a:latin typeface="Arial"/>
              </a:rPr>
              <a:t>[ Enter details of early history, formative training, or initial physical acquisitions ]</a:t>
            </a:r>
          </a:p>
        </p:txBody>
      </p:sp>
      <p:sp>
        <p:nvSpPr>
          <p:cNvPr id="8" name="Oval 7"/>
          <p:cNvSpPr/>
          <p:nvPr/>
        </p:nvSpPr>
        <p:spPr>
          <a:xfrm>
            <a:off x="1691640" y="3291840"/>
            <a:ext cx="274320" cy="274320"/>
          </a:xfrm>
          <a:prstGeom prst="ellipse">
            <a:avLst/>
          </a:prstGeom>
          <a:solidFill>
            <a:srgbClr val="1C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3200400"/>
            <a:ext cx="1097280" cy="914400"/>
          </a:xfrm>
          <a:prstGeom prst="rect">
            <a:avLst/>
          </a:prstGeom>
          <a:noFill/>
        </p:spPr>
        <p:txBody>
          <a:bodyPr wrap="square">
            <a:spAutoFit/>
          </a:bodyPr>
          <a:lstStyle/>
          <a:p>
            <a:r>
              <a:rPr sz="1600" b="1" i="0">
                <a:solidFill>
                  <a:srgbClr val="B22222"/>
                </a:solidFill>
                <a:latin typeface="Georgia"/>
              </a:rPr>
              <a:t>ERA/YEAR 02</a:t>
            </a:r>
          </a:p>
        </p:txBody>
      </p:sp>
      <p:sp>
        <p:nvSpPr>
          <p:cNvPr id="10" name="TextBox 9"/>
          <p:cNvSpPr txBox="1"/>
          <p:nvPr/>
        </p:nvSpPr>
        <p:spPr>
          <a:xfrm>
            <a:off x="2286000" y="3200400"/>
            <a:ext cx="9144000" cy="1097280"/>
          </a:xfrm>
          <a:prstGeom prst="rect">
            <a:avLst/>
          </a:prstGeom>
          <a:noFill/>
        </p:spPr>
        <p:txBody>
          <a:bodyPr wrap="square">
            <a:spAutoFit/>
          </a:bodyPr>
          <a:lstStyle/>
          <a:p>
            <a:pPr>
              <a:spcAft>
                <a:spcPts val="200"/>
              </a:spcAft>
            </a:pPr>
            <a:r>
              <a:rPr sz="1800" b="1" i="0">
                <a:solidFill>
                  <a:srgbClr val="1C1C1C"/>
                </a:solidFill>
                <a:latin typeface="Georgia"/>
              </a:rPr>
              <a:t>[ Milestone Heading 02 ]</a:t>
            </a:r>
          </a:p>
          <a:p>
            <a:r>
              <a:rPr sz="1300" b="0" i="0">
                <a:solidFill>
                  <a:srgbClr val="1C1C1C"/>
                </a:solidFill>
                <a:latin typeface="Arial"/>
              </a:rPr>
              <a:t>[ Enter details of middle period, exhibitions, and stylistic transformations ]</a:t>
            </a:r>
          </a:p>
        </p:txBody>
      </p:sp>
      <p:sp>
        <p:nvSpPr>
          <p:cNvPr id="11" name="Oval 10"/>
          <p:cNvSpPr/>
          <p:nvPr/>
        </p:nvSpPr>
        <p:spPr>
          <a:xfrm>
            <a:off x="1691640" y="4663440"/>
            <a:ext cx="274320" cy="274320"/>
          </a:xfrm>
          <a:prstGeom prst="ellipse">
            <a:avLst/>
          </a:prstGeom>
          <a:solidFill>
            <a:srgbClr val="1C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4572000"/>
            <a:ext cx="1097280" cy="914400"/>
          </a:xfrm>
          <a:prstGeom prst="rect">
            <a:avLst/>
          </a:prstGeom>
          <a:noFill/>
        </p:spPr>
        <p:txBody>
          <a:bodyPr wrap="square">
            <a:spAutoFit/>
          </a:bodyPr>
          <a:lstStyle/>
          <a:p>
            <a:r>
              <a:rPr sz="1600" b="1" i="0">
                <a:solidFill>
                  <a:srgbClr val="B22222"/>
                </a:solidFill>
                <a:latin typeface="Georgia"/>
              </a:rPr>
              <a:t>ERA/YEAR 03</a:t>
            </a:r>
          </a:p>
        </p:txBody>
      </p:sp>
      <p:sp>
        <p:nvSpPr>
          <p:cNvPr id="13" name="TextBox 12"/>
          <p:cNvSpPr txBox="1"/>
          <p:nvPr/>
        </p:nvSpPr>
        <p:spPr>
          <a:xfrm>
            <a:off x="2286000" y="4572000"/>
            <a:ext cx="9144000" cy="1097280"/>
          </a:xfrm>
          <a:prstGeom prst="rect">
            <a:avLst/>
          </a:prstGeom>
          <a:noFill/>
        </p:spPr>
        <p:txBody>
          <a:bodyPr wrap="square">
            <a:spAutoFit/>
          </a:bodyPr>
          <a:lstStyle/>
          <a:p>
            <a:pPr>
              <a:spcAft>
                <a:spcPts val="200"/>
              </a:spcAft>
            </a:pPr>
            <a:r>
              <a:rPr sz="1800" b="1" i="0">
                <a:solidFill>
                  <a:srgbClr val="1C1C1C"/>
                </a:solidFill>
                <a:latin typeface="Georgia"/>
              </a:rPr>
              <a:t>[ Milestone Heading 03 ]</a:t>
            </a:r>
          </a:p>
          <a:p>
            <a:r>
              <a:rPr sz="1300" b="0" i="0">
                <a:solidFill>
                  <a:srgbClr val="1C1C1C"/>
                </a:solidFill>
                <a:latin typeface="Arial"/>
              </a:rPr>
              <a:t>[ Enter details of contemporary peaks, legacy preservation, or current digital planning ]</a:t>
            </a:r>
          </a:p>
        </p:txBody>
      </p:sp>
      <p:sp>
        <p:nvSpPr>
          <p:cNvPr id="14" name="Rectangle 13"/>
          <p:cNvSpPr/>
          <p:nvPr/>
        </p:nvSpPr>
        <p:spPr>
          <a:xfrm>
            <a:off x="11247120" y="5943600"/>
            <a:ext cx="411480" cy="411480"/>
          </a:xfrm>
          <a:prstGeom prst="rect">
            <a:avLst/>
          </a:prstGeom>
          <a:solidFill>
            <a:srgbClr val="B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1283696" y="5980176"/>
            <a:ext cx="338328" cy="338328"/>
          </a:xfrm>
          <a:prstGeom prst="rect">
            <a:avLst/>
          </a:prstGeom>
          <a:noFill/>
          <a:ln w="12700">
            <a:solidFill>
              <a:srgbClr val="B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TextBox 1"/>
          <p:cNvSpPr txBox="1"/>
          <p:nvPr/>
        </p:nvSpPr>
        <p:spPr>
          <a:xfrm>
            <a:off x="457200" y="365760"/>
            <a:ext cx="11277295" cy="1005840"/>
          </a:xfrm>
          <a:prstGeom prst="rect">
            <a:avLst/>
          </a:prstGeom>
          <a:noFill/>
        </p:spPr>
        <p:txBody>
          <a:bodyPr wrap="square" lIns="0" tIns="0">
            <a:spAutoFit/>
          </a:bodyPr>
          <a:lstStyle/>
          <a:p>
            <a:pPr>
              <a:spcAft>
                <a:spcPts val="200"/>
              </a:spcAft>
            </a:pPr>
            <a:r>
              <a:rPr sz="1000" b="1" i="0">
                <a:solidFill>
                  <a:srgbClr val="B22222"/>
                </a:solidFill>
                <a:latin typeface="Arial"/>
              </a:rPr>
              <a:t>METRIC LAYOUTS</a:t>
            </a:r>
          </a:p>
          <a:p>
            <a:pPr>
              <a:spcAft>
                <a:spcPts val="600"/>
              </a:spcAft>
            </a:pPr>
            <a:r>
              <a:rPr sz="2800" b="1" i="0">
                <a:solidFill>
                  <a:srgbClr val="1C1C1C"/>
                </a:solidFill>
                <a:latin typeface="Georgia"/>
              </a:rPr>
              <a:t>[ Platform Performance &amp; Target KPI Cards ]</a:t>
            </a:r>
          </a:p>
        </p:txBody>
      </p:sp>
      <p:sp>
        <p:nvSpPr>
          <p:cNvPr id="3" name="Rectangle 2"/>
          <p:cNvSpPr/>
          <p:nvPr/>
        </p:nvSpPr>
        <p:spPr>
          <a:xfrm>
            <a:off x="457200" y="1280160"/>
            <a:ext cx="11277295" cy="12700"/>
          </a:xfrm>
          <a:prstGeom prst="rect">
            <a:avLst/>
          </a:prstGeom>
          <a:solidFill>
            <a:srgbClr val="8C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57200" y="2011680"/>
            <a:ext cx="3474720" cy="2926080"/>
          </a:xfrm>
          <a:prstGeom prst="round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square" tIns="365760" lIns="274320" rIns="274320"/>
          <a:lstStyle/>
          <a:p>
            <a:pPr algn="ctr">
              <a:spcAft>
                <a:spcPts val="400"/>
              </a:spcAft>
            </a:pPr>
            <a:r>
              <a:rPr sz="3200" b="1" i="0">
                <a:solidFill>
                  <a:srgbClr val="B22222"/>
                </a:solidFill>
                <a:latin typeface="Georgia"/>
              </a:rPr>
              <a:t>[ METRIC VALUE 1 ]</a:t>
            </a:r>
          </a:p>
          <a:p>
            <a:pPr>
              <a:spcAft>
                <a:spcPts val="800"/>
              </a:spcAft>
            </a:pPr>
            <a:r>
              <a:rPr sz="1200" b="1" i="0">
                <a:solidFill>
                  <a:srgbClr val="1C1C1C"/>
                </a:solidFill>
                <a:latin typeface="Arial"/>
              </a:rPr>
              <a:t>[ KEY METRIC DESCRIPTION 1 ]</a:t>
            </a:r>
          </a:p>
          <a:p>
            <a:r>
              <a:rPr sz="1200" b="0" i="0">
                <a:solidFill>
                  <a:srgbClr val="8C8C8C"/>
                </a:solidFill>
                <a:latin typeface="Arial"/>
              </a:rPr>
              <a:t>[ Enter supporting details explaining the calculation or database significance of this figure ]</a:t>
            </a:r>
          </a:p>
        </p:txBody>
      </p:sp>
      <p:sp>
        <p:nvSpPr>
          <p:cNvPr id="5" name="Rounded Rectangle 4"/>
          <p:cNvSpPr/>
          <p:nvPr/>
        </p:nvSpPr>
        <p:spPr>
          <a:xfrm>
            <a:off x="4297680" y="2011680"/>
            <a:ext cx="3474720" cy="2926080"/>
          </a:xfrm>
          <a:prstGeom prst="round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square" tIns="365760" lIns="274320" rIns="274320"/>
          <a:lstStyle/>
          <a:p>
            <a:pPr algn="ctr">
              <a:spcAft>
                <a:spcPts val="400"/>
              </a:spcAft>
            </a:pPr>
            <a:r>
              <a:rPr sz="3200" b="1" i="0">
                <a:solidFill>
                  <a:srgbClr val="B22222"/>
                </a:solidFill>
                <a:latin typeface="Georgia"/>
              </a:rPr>
              <a:t>[ METRIC VALUE 2 ]</a:t>
            </a:r>
          </a:p>
          <a:p>
            <a:pPr>
              <a:spcAft>
                <a:spcPts val="800"/>
              </a:spcAft>
            </a:pPr>
            <a:r>
              <a:rPr sz="1200" b="1" i="0">
                <a:solidFill>
                  <a:srgbClr val="1C1C1C"/>
                </a:solidFill>
                <a:latin typeface="Arial"/>
              </a:rPr>
              <a:t>[ KEY METRIC DESCRIPTION 2 ]</a:t>
            </a:r>
          </a:p>
          <a:p>
            <a:r>
              <a:rPr sz="1200" b="0" i="0">
                <a:solidFill>
                  <a:srgbClr val="8C8C8C"/>
                </a:solidFill>
                <a:latin typeface="Arial"/>
              </a:rPr>
              <a:t>[ Enter supporting details explaining the calculation or database significance of this figure ]</a:t>
            </a:r>
          </a:p>
        </p:txBody>
      </p:sp>
      <p:sp>
        <p:nvSpPr>
          <p:cNvPr id="6" name="Rounded Rectangle 5"/>
          <p:cNvSpPr/>
          <p:nvPr/>
        </p:nvSpPr>
        <p:spPr>
          <a:xfrm>
            <a:off x="8138160" y="2011680"/>
            <a:ext cx="3474720" cy="2926080"/>
          </a:xfrm>
          <a:prstGeom prst="round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square" tIns="365760" lIns="274320" rIns="274320"/>
          <a:lstStyle/>
          <a:p>
            <a:pPr algn="ctr">
              <a:spcAft>
                <a:spcPts val="400"/>
              </a:spcAft>
            </a:pPr>
            <a:r>
              <a:rPr sz="3200" b="1" i="0">
                <a:solidFill>
                  <a:srgbClr val="B22222"/>
                </a:solidFill>
                <a:latin typeface="Georgia"/>
              </a:rPr>
              <a:t>[ METRIC VALUE 3 ]</a:t>
            </a:r>
          </a:p>
          <a:p>
            <a:pPr>
              <a:spcAft>
                <a:spcPts val="800"/>
              </a:spcAft>
            </a:pPr>
            <a:r>
              <a:rPr sz="1200" b="1" i="0">
                <a:solidFill>
                  <a:srgbClr val="1C1C1C"/>
                </a:solidFill>
                <a:latin typeface="Arial"/>
              </a:rPr>
              <a:t>[ KEY METRIC DESCRIPTION 3 ]</a:t>
            </a:r>
          </a:p>
          <a:p>
            <a:r>
              <a:rPr sz="1200" b="0" i="0">
                <a:solidFill>
                  <a:srgbClr val="8C8C8C"/>
                </a:solidFill>
                <a:latin typeface="Arial"/>
              </a:rPr>
              <a:t>[ Enter supporting details explaining the calculation or database significance of this figure ]</a:t>
            </a:r>
          </a:p>
        </p:txBody>
      </p:sp>
      <p:sp>
        <p:nvSpPr>
          <p:cNvPr id="7" name="Rectangle 6"/>
          <p:cNvSpPr/>
          <p:nvPr/>
        </p:nvSpPr>
        <p:spPr>
          <a:xfrm>
            <a:off x="11247120" y="5943600"/>
            <a:ext cx="411480" cy="411480"/>
          </a:xfrm>
          <a:prstGeom prst="rect">
            <a:avLst/>
          </a:prstGeom>
          <a:solidFill>
            <a:srgbClr val="B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1283696" y="5980176"/>
            <a:ext cx="338328" cy="338328"/>
          </a:xfrm>
          <a:prstGeom prst="rect">
            <a:avLst/>
          </a:prstGeom>
          <a:noFill/>
          <a:ln w="12700">
            <a:solidFill>
              <a:srgbClr val="B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TextBox 1"/>
          <p:cNvSpPr txBox="1"/>
          <p:nvPr/>
        </p:nvSpPr>
        <p:spPr>
          <a:xfrm>
            <a:off x="457200" y="365760"/>
            <a:ext cx="11277295" cy="1005840"/>
          </a:xfrm>
          <a:prstGeom prst="rect">
            <a:avLst/>
          </a:prstGeom>
          <a:noFill/>
        </p:spPr>
        <p:txBody>
          <a:bodyPr wrap="square" lIns="0" tIns="0">
            <a:spAutoFit/>
          </a:bodyPr>
          <a:lstStyle/>
          <a:p>
            <a:pPr>
              <a:spcAft>
                <a:spcPts val="200"/>
              </a:spcAft>
            </a:pPr>
            <a:r>
              <a:rPr sz="1000" b="1" i="0">
                <a:solidFill>
                  <a:srgbClr val="B22222"/>
                </a:solidFill>
                <a:latin typeface="Arial"/>
              </a:rPr>
              <a:t>METRIC LAYOUTS</a:t>
            </a:r>
          </a:p>
          <a:p>
            <a:pPr>
              <a:spcAft>
                <a:spcPts val="600"/>
              </a:spcAft>
            </a:pPr>
            <a:r>
              <a:rPr sz="2800" b="1" i="0">
                <a:solidFill>
                  <a:srgbClr val="1C1C1C"/>
                </a:solidFill>
                <a:latin typeface="Georgia"/>
              </a:rPr>
              <a:t>[ Multi-Factor Specification Grid Template ]</a:t>
            </a:r>
          </a:p>
        </p:txBody>
      </p:sp>
      <p:sp>
        <p:nvSpPr>
          <p:cNvPr id="3" name="Rectangle 2"/>
          <p:cNvSpPr/>
          <p:nvPr/>
        </p:nvSpPr>
        <p:spPr>
          <a:xfrm>
            <a:off x="457200" y="1280160"/>
            <a:ext cx="11277295" cy="12700"/>
          </a:xfrm>
          <a:prstGeom prst="rect">
            <a:avLst/>
          </a:prstGeom>
          <a:solidFill>
            <a:srgbClr val="8C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2011680"/>
            <a:ext cx="2560320" cy="2926080"/>
          </a:xfrm>
          <a:prstGeom prst="rect">
            <a:avLst/>
          </a:prstGeom>
          <a:solidFill>
            <a:srgbClr val="FAF9F6"/>
          </a:solidFill>
          <a:ln w="19050">
            <a:solidFill>
              <a:srgbClr val="1C1C1C"/>
            </a:solidFill>
          </a:ln>
        </p:spPr>
        <p:style>
          <a:lnRef idx="1">
            <a:schemeClr val="accent1"/>
          </a:lnRef>
          <a:fillRef idx="3">
            <a:schemeClr val="accent1"/>
          </a:fillRef>
          <a:effectRef idx="2">
            <a:schemeClr val="accent1"/>
          </a:effectRef>
          <a:fontRef idx="minor">
            <a:schemeClr val="lt1"/>
          </a:fontRef>
        </p:style>
        <p:txBody>
          <a:bodyPr rtlCol="0" anchor="ctr" wrap="square" tIns="365760" lIns="182880" rIns="182880"/>
          <a:lstStyle/>
          <a:p>
            <a:pPr algn="ctr">
              <a:spcAft>
                <a:spcPts val="400"/>
              </a:spcAft>
            </a:pPr>
            <a:r>
              <a:rPr sz="2800" b="1" i="0">
                <a:solidFill>
                  <a:srgbClr val="1C1C1C"/>
                </a:solidFill>
                <a:latin typeface="Georgia"/>
              </a:rPr>
              <a:t>[ SPEC 1 ]</a:t>
            </a:r>
          </a:p>
          <a:p>
            <a:pPr>
              <a:spcAft>
                <a:spcPts val="800"/>
              </a:spcAft>
            </a:pPr>
            <a:r>
              <a:rPr sz="1100" b="1" i="0">
                <a:solidFill>
                  <a:srgbClr val="B22222"/>
                </a:solidFill>
                <a:latin typeface="Arial"/>
              </a:rPr>
              <a:t>[ METRIC NAME 1 ]</a:t>
            </a:r>
          </a:p>
          <a:p>
            <a:r>
              <a:rPr sz="1200" b="0" i="0">
                <a:solidFill>
                  <a:srgbClr val="8C8C8C"/>
                </a:solidFill>
                <a:latin typeface="Arial"/>
              </a:rPr>
              <a:t>[ Details on specs or target configurations ]</a:t>
            </a:r>
          </a:p>
        </p:txBody>
      </p:sp>
      <p:sp>
        <p:nvSpPr>
          <p:cNvPr id="5" name="Rectangle 4"/>
          <p:cNvSpPr/>
          <p:nvPr/>
        </p:nvSpPr>
        <p:spPr>
          <a:xfrm>
            <a:off x="3291840" y="2011680"/>
            <a:ext cx="2560320" cy="2926080"/>
          </a:xfrm>
          <a:prstGeom prst="rect">
            <a:avLst/>
          </a:prstGeom>
          <a:solidFill>
            <a:srgbClr val="FAF9F6"/>
          </a:solidFill>
          <a:ln w="19050">
            <a:solidFill>
              <a:srgbClr val="1C1C1C"/>
            </a:solidFill>
          </a:ln>
        </p:spPr>
        <p:style>
          <a:lnRef idx="1">
            <a:schemeClr val="accent1"/>
          </a:lnRef>
          <a:fillRef idx="3">
            <a:schemeClr val="accent1"/>
          </a:fillRef>
          <a:effectRef idx="2">
            <a:schemeClr val="accent1"/>
          </a:effectRef>
          <a:fontRef idx="minor">
            <a:schemeClr val="lt1"/>
          </a:fontRef>
        </p:style>
        <p:txBody>
          <a:bodyPr rtlCol="0" anchor="ctr" wrap="square" tIns="365760" lIns="182880" rIns="182880"/>
          <a:lstStyle/>
          <a:p>
            <a:pPr algn="ctr">
              <a:spcAft>
                <a:spcPts val="400"/>
              </a:spcAft>
            </a:pPr>
            <a:r>
              <a:rPr sz="2800" b="1" i="0">
                <a:solidFill>
                  <a:srgbClr val="1C1C1C"/>
                </a:solidFill>
                <a:latin typeface="Georgia"/>
              </a:rPr>
              <a:t>[ SPEC 2 ]</a:t>
            </a:r>
          </a:p>
          <a:p>
            <a:pPr>
              <a:spcAft>
                <a:spcPts val="800"/>
              </a:spcAft>
            </a:pPr>
            <a:r>
              <a:rPr sz="1100" b="1" i="0">
                <a:solidFill>
                  <a:srgbClr val="B22222"/>
                </a:solidFill>
                <a:latin typeface="Arial"/>
              </a:rPr>
              <a:t>[ METRIC NAME 2 ]</a:t>
            </a:r>
          </a:p>
          <a:p>
            <a:r>
              <a:rPr sz="1200" b="0" i="0">
                <a:solidFill>
                  <a:srgbClr val="8C8C8C"/>
                </a:solidFill>
                <a:latin typeface="Arial"/>
              </a:rPr>
              <a:t>[ Details on specs or target configurations ]</a:t>
            </a:r>
          </a:p>
        </p:txBody>
      </p:sp>
      <p:sp>
        <p:nvSpPr>
          <p:cNvPr id="6" name="Rectangle 5"/>
          <p:cNvSpPr/>
          <p:nvPr/>
        </p:nvSpPr>
        <p:spPr>
          <a:xfrm>
            <a:off x="6126480" y="2011680"/>
            <a:ext cx="2560320" cy="2926080"/>
          </a:xfrm>
          <a:prstGeom prst="rect">
            <a:avLst/>
          </a:prstGeom>
          <a:solidFill>
            <a:srgbClr val="FAF9F6"/>
          </a:solidFill>
          <a:ln w="19050">
            <a:solidFill>
              <a:srgbClr val="1C1C1C"/>
            </a:solidFill>
          </a:ln>
        </p:spPr>
        <p:style>
          <a:lnRef idx="1">
            <a:schemeClr val="accent1"/>
          </a:lnRef>
          <a:fillRef idx="3">
            <a:schemeClr val="accent1"/>
          </a:fillRef>
          <a:effectRef idx="2">
            <a:schemeClr val="accent1"/>
          </a:effectRef>
          <a:fontRef idx="minor">
            <a:schemeClr val="lt1"/>
          </a:fontRef>
        </p:style>
        <p:txBody>
          <a:bodyPr rtlCol="0" anchor="ctr" wrap="square" tIns="365760" lIns="182880" rIns="182880"/>
          <a:lstStyle/>
          <a:p>
            <a:pPr algn="ctr">
              <a:spcAft>
                <a:spcPts val="400"/>
              </a:spcAft>
            </a:pPr>
            <a:r>
              <a:rPr sz="2800" b="1" i="0">
                <a:solidFill>
                  <a:srgbClr val="1C1C1C"/>
                </a:solidFill>
                <a:latin typeface="Georgia"/>
              </a:rPr>
              <a:t>[ SPEC 3 ]</a:t>
            </a:r>
          </a:p>
          <a:p>
            <a:pPr>
              <a:spcAft>
                <a:spcPts val="800"/>
              </a:spcAft>
            </a:pPr>
            <a:r>
              <a:rPr sz="1100" b="1" i="0">
                <a:solidFill>
                  <a:srgbClr val="B22222"/>
                </a:solidFill>
                <a:latin typeface="Arial"/>
              </a:rPr>
              <a:t>[ METRIC NAME 3 ]</a:t>
            </a:r>
          </a:p>
          <a:p>
            <a:r>
              <a:rPr sz="1200" b="0" i="0">
                <a:solidFill>
                  <a:srgbClr val="8C8C8C"/>
                </a:solidFill>
                <a:latin typeface="Arial"/>
              </a:rPr>
              <a:t>[ Details on specs or target configurations ]</a:t>
            </a:r>
          </a:p>
        </p:txBody>
      </p:sp>
      <p:sp>
        <p:nvSpPr>
          <p:cNvPr id="7" name="Rectangle 6"/>
          <p:cNvSpPr/>
          <p:nvPr/>
        </p:nvSpPr>
        <p:spPr>
          <a:xfrm>
            <a:off x="8961120" y="2011680"/>
            <a:ext cx="2560320" cy="2926080"/>
          </a:xfrm>
          <a:prstGeom prst="rect">
            <a:avLst/>
          </a:prstGeom>
          <a:solidFill>
            <a:srgbClr val="FAF9F6"/>
          </a:solidFill>
          <a:ln w="19050">
            <a:solidFill>
              <a:srgbClr val="1C1C1C"/>
            </a:solidFill>
          </a:ln>
        </p:spPr>
        <p:style>
          <a:lnRef idx="1">
            <a:schemeClr val="accent1"/>
          </a:lnRef>
          <a:fillRef idx="3">
            <a:schemeClr val="accent1"/>
          </a:fillRef>
          <a:effectRef idx="2">
            <a:schemeClr val="accent1"/>
          </a:effectRef>
          <a:fontRef idx="minor">
            <a:schemeClr val="lt1"/>
          </a:fontRef>
        </p:style>
        <p:txBody>
          <a:bodyPr rtlCol="0" anchor="ctr" wrap="square" tIns="365760" lIns="182880" rIns="182880"/>
          <a:lstStyle/>
          <a:p>
            <a:pPr algn="ctr">
              <a:spcAft>
                <a:spcPts val="400"/>
              </a:spcAft>
            </a:pPr>
            <a:r>
              <a:rPr sz="2800" b="1" i="0">
                <a:solidFill>
                  <a:srgbClr val="1C1C1C"/>
                </a:solidFill>
                <a:latin typeface="Georgia"/>
              </a:rPr>
              <a:t>[ SPEC 4 ]</a:t>
            </a:r>
          </a:p>
          <a:p>
            <a:pPr>
              <a:spcAft>
                <a:spcPts val="800"/>
              </a:spcAft>
            </a:pPr>
            <a:r>
              <a:rPr sz="1100" b="1" i="0">
                <a:solidFill>
                  <a:srgbClr val="B22222"/>
                </a:solidFill>
                <a:latin typeface="Arial"/>
              </a:rPr>
              <a:t>[ METRIC NAME 4 ]</a:t>
            </a:r>
          </a:p>
          <a:p>
            <a:r>
              <a:rPr sz="1200" b="0" i="0">
                <a:solidFill>
                  <a:srgbClr val="8C8C8C"/>
                </a:solidFill>
                <a:latin typeface="Arial"/>
              </a:rPr>
              <a:t>[ Details on specs or target configurations ]</a:t>
            </a:r>
          </a:p>
        </p:txBody>
      </p:sp>
      <p:sp>
        <p:nvSpPr>
          <p:cNvPr id="8" name="Rectangle 7"/>
          <p:cNvSpPr/>
          <p:nvPr/>
        </p:nvSpPr>
        <p:spPr>
          <a:xfrm>
            <a:off x="11247120" y="5943600"/>
            <a:ext cx="411480" cy="411480"/>
          </a:xfrm>
          <a:prstGeom prst="rect">
            <a:avLst/>
          </a:prstGeom>
          <a:solidFill>
            <a:srgbClr val="B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1283696" y="5980176"/>
            <a:ext cx="338328" cy="338328"/>
          </a:xfrm>
          <a:prstGeom prst="rect">
            <a:avLst/>
          </a:prstGeom>
          <a:noFill/>
          <a:ln w="12700">
            <a:solidFill>
              <a:srgbClr val="B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TextBox 1"/>
          <p:cNvSpPr txBox="1"/>
          <p:nvPr/>
        </p:nvSpPr>
        <p:spPr>
          <a:xfrm>
            <a:off x="457200" y="365760"/>
            <a:ext cx="11277295" cy="1005840"/>
          </a:xfrm>
          <a:prstGeom prst="rect">
            <a:avLst/>
          </a:prstGeom>
          <a:noFill/>
        </p:spPr>
        <p:txBody>
          <a:bodyPr wrap="square" lIns="0" tIns="0">
            <a:spAutoFit/>
          </a:bodyPr>
          <a:lstStyle/>
          <a:p>
            <a:pPr>
              <a:spcAft>
                <a:spcPts val="200"/>
              </a:spcAft>
            </a:pPr>
            <a:r>
              <a:rPr sz="1000" b="1" i="0">
                <a:solidFill>
                  <a:srgbClr val="B22222"/>
                </a:solidFill>
                <a:latin typeface="Arial"/>
              </a:rPr>
              <a:t>PROCESS LAYOUTS</a:t>
            </a:r>
          </a:p>
          <a:p>
            <a:pPr>
              <a:spcAft>
                <a:spcPts val="600"/>
              </a:spcAft>
            </a:pPr>
            <a:r>
              <a:rPr sz="2800" b="1" i="0">
                <a:solidFill>
                  <a:srgbClr val="1C1C1C"/>
                </a:solidFill>
                <a:latin typeface="Georgia"/>
              </a:rPr>
              <a:t>[ 3-Step Curatorial Process / System Flow Template ]</a:t>
            </a:r>
          </a:p>
        </p:txBody>
      </p:sp>
      <p:sp>
        <p:nvSpPr>
          <p:cNvPr id="3" name="Rectangle 2"/>
          <p:cNvSpPr/>
          <p:nvPr/>
        </p:nvSpPr>
        <p:spPr>
          <a:xfrm>
            <a:off x="457200" y="1280160"/>
            <a:ext cx="11277295" cy="12700"/>
          </a:xfrm>
          <a:prstGeom prst="rect">
            <a:avLst/>
          </a:prstGeom>
          <a:solidFill>
            <a:srgbClr val="8C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838047" y="2377440"/>
            <a:ext cx="3200400" cy="2377440"/>
          </a:xfrm>
          <a:prstGeom prst="round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square" tIns="274320" lIns="182880" rIns="182880"/>
          <a:lstStyle/>
          <a:p>
            <a:pPr algn="ctr">
              <a:spcAft>
                <a:spcPts val="200"/>
              </a:spcAft>
            </a:pPr>
            <a:r>
              <a:rPr sz="1100" b="1" i="0">
                <a:solidFill>
                  <a:srgbClr val="B22222"/>
                </a:solidFill>
                <a:latin typeface="Arial"/>
              </a:rPr>
              <a:t>STEP 01</a:t>
            </a:r>
          </a:p>
          <a:p>
            <a:pPr>
              <a:spcAft>
                <a:spcPts val="600"/>
              </a:spcAft>
            </a:pPr>
            <a:r>
              <a:rPr sz="1800" b="1" i="0">
                <a:solidFill>
                  <a:srgbClr val="1C1C1C"/>
                </a:solidFill>
                <a:latin typeface="Georgia"/>
              </a:rPr>
              <a:t>[ Action Heading 1 ]</a:t>
            </a:r>
          </a:p>
          <a:p>
            <a:r>
              <a:rPr sz="1200" b="0" i="0">
                <a:solidFill>
                  <a:srgbClr val="1C1C1C"/>
                </a:solidFill>
                <a:latin typeface="Arial"/>
              </a:rPr>
              <a:t>[ Insert clear instructions describing the initial database curation, cataloguing, or photo shoot step ]</a:t>
            </a:r>
          </a:p>
        </p:txBody>
      </p:sp>
      <p:sp>
        <p:nvSpPr>
          <p:cNvPr id="5" name="Chevron 4"/>
          <p:cNvSpPr/>
          <p:nvPr/>
        </p:nvSpPr>
        <p:spPr>
          <a:xfrm>
            <a:off x="4084167" y="3291840"/>
            <a:ext cx="365760" cy="548640"/>
          </a:xfrm>
          <a:prstGeom prst="chevron">
            <a:avLst/>
          </a:prstGeom>
          <a:solidFill>
            <a:srgbClr val="8C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495647" y="2377440"/>
            <a:ext cx="3200400" cy="2377440"/>
          </a:xfrm>
          <a:prstGeom prst="round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square" tIns="274320" lIns="182880" rIns="182880"/>
          <a:lstStyle/>
          <a:p>
            <a:pPr algn="ctr">
              <a:spcAft>
                <a:spcPts val="200"/>
              </a:spcAft>
            </a:pPr>
            <a:r>
              <a:rPr sz="1100" b="1" i="0">
                <a:solidFill>
                  <a:srgbClr val="B22222"/>
                </a:solidFill>
                <a:latin typeface="Arial"/>
              </a:rPr>
              <a:t>STEP 02</a:t>
            </a:r>
          </a:p>
          <a:p>
            <a:pPr>
              <a:spcAft>
                <a:spcPts val="600"/>
              </a:spcAft>
            </a:pPr>
            <a:r>
              <a:rPr sz="1800" b="1" i="0">
                <a:solidFill>
                  <a:srgbClr val="1C1C1C"/>
                </a:solidFill>
                <a:latin typeface="Georgia"/>
              </a:rPr>
              <a:t>[ Action Heading 2 ]</a:t>
            </a:r>
          </a:p>
          <a:p>
            <a:r>
              <a:rPr sz="1200" b="0" i="0">
                <a:solidFill>
                  <a:srgbClr val="1C1C1C"/>
                </a:solidFill>
                <a:latin typeface="Arial"/>
              </a:rPr>
              <a:t>[ Insert clear instructions describing the database filter, mapping, or secure tracking step ]</a:t>
            </a:r>
          </a:p>
        </p:txBody>
      </p:sp>
      <p:sp>
        <p:nvSpPr>
          <p:cNvPr id="7" name="Chevron 6"/>
          <p:cNvSpPr/>
          <p:nvPr/>
        </p:nvSpPr>
        <p:spPr>
          <a:xfrm>
            <a:off x="7741767" y="3291840"/>
            <a:ext cx="365760" cy="548640"/>
          </a:xfrm>
          <a:prstGeom prst="chevron">
            <a:avLst/>
          </a:prstGeom>
          <a:solidFill>
            <a:srgbClr val="8C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153247" y="2377440"/>
            <a:ext cx="3200400" cy="2377440"/>
          </a:xfrm>
          <a:prstGeom prst="round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square" tIns="274320" lIns="182880" rIns="182880"/>
          <a:lstStyle/>
          <a:p>
            <a:pPr algn="ctr">
              <a:spcAft>
                <a:spcPts val="200"/>
              </a:spcAft>
            </a:pPr>
            <a:r>
              <a:rPr sz="1100" b="1" i="0">
                <a:solidFill>
                  <a:srgbClr val="B22222"/>
                </a:solidFill>
                <a:latin typeface="Arial"/>
              </a:rPr>
              <a:t>STEP 03</a:t>
            </a:r>
          </a:p>
          <a:p>
            <a:pPr>
              <a:spcAft>
                <a:spcPts val="600"/>
              </a:spcAft>
            </a:pPr>
            <a:r>
              <a:rPr sz="1800" b="1" i="0">
                <a:solidFill>
                  <a:srgbClr val="1C1C1C"/>
                </a:solidFill>
                <a:latin typeface="Georgia"/>
              </a:rPr>
              <a:t>[ Action Heading 3 ]</a:t>
            </a:r>
          </a:p>
          <a:p>
            <a:r>
              <a:rPr sz="1200" b="0" i="0">
                <a:solidFill>
                  <a:srgbClr val="1C1C1C"/>
                </a:solidFill>
                <a:latin typeface="Arial"/>
              </a:rPr>
              <a:t>[ Insert clear instructions describing the final exhibition presentation or global coordination step ]</a:t>
            </a:r>
          </a:p>
        </p:txBody>
      </p:sp>
      <p:sp>
        <p:nvSpPr>
          <p:cNvPr id="9" name="Rectangle 8"/>
          <p:cNvSpPr/>
          <p:nvPr/>
        </p:nvSpPr>
        <p:spPr>
          <a:xfrm>
            <a:off x="11247120" y="5943600"/>
            <a:ext cx="411480" cy="411480"/>
          </a:xfrm>
          <a:prstGeom prst="rect">
            <a:avLst/>
          </a:prstGeom>
          <a:solidFill>
            <a:srgbClr val="B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1283696" y="5980176"/>
            <a:ext cx="338328" cy="338328"/>
          </a:xfrm>
          <a:prstGeom prst="rect">
            <a:avLst/>
          </a:prstGeom>
          <a:noFill/>
          <a:ln w="12700">
            <a:solidFill>
              <a:srgbClr val="B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TextBox 1"/>
          <p:cNvSpPr txBox="1"/>
          <p:nvPr/>
        </p:nvSpPr>
        <p:spPr>
          <a:xfrm>
            <a:off x="457200" y="365760"/>
            <a:ext cx="11277295" cy="1005840"/>
          </a:xfrm>
          <a:prstGeom prst="rect">
            <a:avLst/>
          </a:prstGeom>
          <a:noFill/>
        </p:spPr>
        <p:txBody>
          <a:bodyPr wrap="square" lIns="0" tIns="0">
            <a:spAutoFit/>
          </a:bodyPr>
          <a:lstStyle/>
          <a:p>
            <a:pPr>
              <a:spcAft>
                <a:spcPts val="200"/>
              </a:spcAft>
            </a:pPr>
            <a:r>
              <a:rPr sz="1000" b="1" i="0">
                <a:solidFill>
                  <a:srgbClr val="B22222"/>
                </a:solidFill>
                <a:latin typeface="Arial"/>
              </a:rPr>
              <a:t>PROCESS LAYOUTS</a:t>
            </a:r>
          </a:p>
          <a:p>
            <a:pPr>
              <a:spcAft>
                <a:spcPts val="600"/>
              </a:spcAft>
            </a:pPr>
            <a:r>
              <a:rPr sz="2800" b="1" i="0">
                <a:solidFill>
                  <a:srgbClr val="1C1C1C"/>
                </a:solidFill>
                <a:latin typeface="Georgia"/>
              </a:rPr>
              <a:t>[ 4-Step Vertical Operational Pipeline Template ]</a:t>
            </a:r>
          </a:p>
        </p:txBody>
      </p:sp>
      <p:sp>
        <p:nvSpPr>
          <p:cNvPr id="3" name="Rectangle 2"/>
          <p:cNvSpPr/>
          <p:nvPr/>
        </p:nvSpPr>
        <p:spPr>
          <a:xfrm>
            <a:off x="457200" y="1280160"/>
            <a:ext cx="11277295" cy="12700"/>
          </a:xfrm>
          <a:prstGeom prst="rect">
            <a:avLst/>
          </a:prstGeom>
          <a:solidFill>
            <a:srgbClr val="8C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1828800"/>
            <a:ext cx="2560320" cy="384048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square" tIns="365760" lIns="182880" rIns="182880"/>
          <a:lstStyle/>
          <a:p>
            <a:pPr algn="ctr">
              <a:spcAft>
                <a:spcPts val="400"/>
              </a:spcAft>
            </a:pPr>
            <a:r>
              <a:rPr sz="3200" b="1" i="0">
                <a:solidFill>
                  <a:srgbClr val="B22222"/>
                </a:solidFill>
                <a:latin typeface="Georgia"/>
              </a:rPr>
              <a:t>01</a:t>
            </a:r>
          </a:p>
          <a:p>
            <a:pPr>
              <a:spcAft>
                <a:spcPts val="600"/>
              </a:spcAft>
            </a:pPr>
            <a:r>
              <a:rPr sz="1600" b="1" i="0">
                <a:solidFill>
                  <a:srgbClr val="1C1C1C"/>
                </a:solidFill>
                <a:latin typeface="Georgia"/>
              </a:rPr>
              <a:t>[ Standard Step ]</a:t>
            </a:r>
          </a:p>
          <a:p>
            <a:r>
              <a:rPr sz="1200" b="0" i="0">
                <a:solidFill>
                  <a:srgbClr val="8C8C8C"/>
                </a:solidFill>
                <a:latin typeface="Arial"/>
              </a:rPr>
              <a:t>[ Describe the database curation or data capture action ]</a:t>
            </a:r>
          </a:p>
        </p:txBody>
      </p:sp>
      <p:sp>
        <p:nvSpPr>
          <p:cNvPr id="5" name="Rectangle 4"/>
          <p:cNvSpPr/>
          <p:nvPr/>
        </p:nvSpPr>
        <p:spPr>
          <a:xfrm>
            <a:off x="3291840" y="1828800"/>
            <a:ext cx="2560320" cy="384048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square" tIns="365760" lIns="182880" rIns="182880"/>
          <a:lstStyle/>
          <a:p>
            <a:pPr algn="ctr">
              <a:spcAft>
                <a:spcPts val="400"/>
              </a:spcAft>
            </a:pPr>
            <a:r>
              <a:rPr sz="3200" b="1" i="0">
                <a:solidFill>
                  <a:srgbClr val="B22222"/>
                </a:solidFill>
                <a:latin typeface="Georgia"/>
              </a:rPr>
              <a:t>02</a:t>
            </a:r>
          </a:p>
          <a:p>
            <a:pPr>
              <a:spcAft>
                <a:spcPts val="600"/>
              </a:spcAft>
            </a:pPr>
            <a:r>
              <a:rPr sz="1600" b="1" i="0">
                <a:solidFill>
                  <a:srgbClr val="1C1C1C"/>
                </a:solidFill>
                <a:latin typeface="Georgia"/>
              </a:rPr>
              <a:t>[ Processing Step ]</a:t>
            </a:r>
          </a:p>
          <a:p>
            <a:r>
              <a:rPr sz="1200" b="0" i="0">
                <a:solidFill>
                  <a:srgbClr val="8C8C8C"/>
                </a:solidFill>
                <a:latin typeface="Arial"/>
              </a:rPr>
              <a:t>[ Describe processing, automated tags, and validation action ]</a:t>
            </a:r>
          </a:p>
        </p:txBody>
      </p:sp>
      <p:sp>
        <p:nvSpPr>
          <p:cNvPr id="6" name="Rectangle 5"/>
          <p:cNvSpPr/>
          <p:nvPr/>
        </p:nvSpPr>
        <p:spPr>
          <a:xfrm>
            <a:off x="6126480" y="1828800"/>
            <a:ext cx="2560320" cy="384048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square" tIns="365760" lIns="182880" rIns="182880"/>
          <a:lstStyle/>
          <a:p>
            <a:pPr algn="ctr">
              <a:spcAft>
                <a:spcPts val="400"/>
              </a:spcAft>
            </a:pPr>
            <a:r>
              <a:rPr sz="3200" b="1" i="0">
                <a:solidFill>
                  <a:srgbClr val="B22222"/>
                </a:solidFill>
                <a:latin typeface="Georgia"/>
              </a:rPr>
              <a:t>03</a:t>
            </a:r>
          </a:p>
          <a:p>
            <a:pPr>
              <a:spcAft>
                <a:spcPts val="600"/>
              </a:spcAft>
            </a:pPr>
            <a:r>
              <a:rPr sz="1600" b="1" i="0">
                <a:solidFill>
                  <a:srgbClr val="1C1C1C"/>
                </a:solidFill>
                <a:latin typeface="Georgia"/>
              </a:rPr>
              <a:t>[ Curatorial Selection ]</a:t>
            </a:r>
          </a:p>
          <a:p>
            <a:r>
              <a:rPr sz="1200" b="0" i="0">
                <a:solidFill>
                  <a:srgbClr val="8C8C8C"/>
                </a:solidFill>
                <a:latin typeface="Arial"/>
              </a:rPr>
              <a:t>[ Describe curation matching and narrative engine logic ]</a:t>
            </a:r>
          </a:p>
        </p:txBody>
      </p:sp>
      <p:sp>
        <p:nvSpPr>
          <p:cNvPr id="7" name="Rectangle 6"/>
          <p:cNvSpPr/>
          <p:nvPr/>
        </p:nvSpPr>
        <p:spPr>
          <a:xfrm>
            <a:off x="8961120" y="1828800"/>
            <a:ext cx="2560320" cy="384048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square" tIns="365760" lIns="182880" rIns="182880"/>
          <a:lstStyle/>
          <a:p>
            <a:pPr algn="ctr">
              <a:spcAft>
                <a:spcPts val="400"/>
              </a:spcAft>
            </a:pPr>
            <a:r>
              <a:rPr sz="3200" b="1" i="0">
                <a:solidFill>
                  <a:srgbClr val="B22222"/>
                </a:solidFill>
                <a:latin typeface="Georgia"/>
              </a:rPr>
              <a:t>04</a:t>
            </a:r>
          </a:p>
          <a:p>
            <a:pPr>
              <a:spcAft>
                <a:spcPts val="600"/>
              </a:spcAft>
            </a:pPr>
            <a:r>
              <a:rPr sz="1600" b="1" i="0">
                <a:solidFill>
                  <a:srgbClr val="1C1C1C"/>
                </a:solidFill>
                <a:latin typeface="Georgia"/>
              </a:rPr>
              <a:t>[ Public Display ]</a:t>
            </a:r>
          </a:p>
          <a:p>
            <a:r>
              <a:rPr sz="1200" b="0" i="0">
                <a:solidFill>
                  <a:srgbClr val="8C8C8C"/>
                </a:solidFill>
                <a:latin typeface="Arial"/>
              </a:rPr>
              <a:t>[ Describe frontend hosting and public-facing launch elements ]</a:t>
            </a:r>
          </a:p>
        </p:txBody>
      </p:sp>
      <p:sp>
        <p:nvSpPr>
          <p:cNvPr id="8" name="Rectangle 7"/>
          <p:cNvSpPr/>
          <p:nvPr/>
        </p:nvSpPr>
        <p:spPr>
          <a:xfrm>
            <a:off x="11247120" y="5943600"/>
            <a:ext cx="411480" cy="411480"/>
          </a:xfrm>
          <a:prstGeom prst="rect">
            <a:avLst/>
          </a:prstGeom>
          <a:solidFill>
            <a:srgbClr val="B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1283696" y="5980176"/>
            <a:ext cx="338328" cy="338328"/>
          </a:xfrm>
          <a:prstGeom prst="rect">
            <a:avLst/>
          </a:prstGeom>
          <a:noFill/>
          <a:ln w="12700">
            <a:solidFill>
              <a:srgbClr val="B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TextBox 1"/>
          <p:cNvSpPr txBox="1"/>
          <p:nvPr/>
        </p:nvSpPr>
        <p:spPr>
          <a:xfrm>
            <a:off x="457200" y="365760"/>
            <a:ext cx="11277295" cy="1005840"/>
          </a:xfrm>
          <a:prstGeom prst="rect">
            <a:avLst/>
          </a:prstGeom>
          <a:noFill/>
        </p:spPr>
        <p:txBody>
          <a:bodyPr wrap="square" lIns="0" tIns="0">
            <a:spAutoFit/>
          </a:bodyPr>
          <a:lstStyle/>
          <a:p>
            <a:pPr>
              <a:spcAft>
                <a:spcPts val="200"/>
              </a:spcAft>
            </a:pPr>
            <a:r>
              <a:rPr sz="1000" b="1" i="0">
                <a:solidFill>
                  <a:srgbClr val="B22222"/>
                </a:solidFill>
                <a:latin typeface="Arial"/>
              </a:rPr>
              <a:t>COMPARISON LAYOUTS</a:t>
            </a:r>
          </a:p>
          <a:p>
            <a:pPr>
              <a:spcAft>
                <a:spcPts val="600"/>
              </a:spcAft>
            </a:pPr>
            <a:r>
              <a:rPr sz="2800" b="1" i="0">
                <a:solidFill>
                  <a:srgbClr val="1C1C1C"/>
                </a:solidFill>
                <a:latin typeface="Georgia"/>
              </a:rPr>
              <a:t>[ Comparative Model / Strategic Alternatives Template ]</a:t>
            </a:r>
          </a:p>
        </p:txBody>
      </p:sp>
      <p:sp>
        <p:nvSpPr>
          <p:cNvPr id="3" name="Rectangle 2"/>
          <p:cNvSpPr/>
          <p:nvPr/>
        </p:nvSpPr>
        <p:spPr>
          <a:xfrm>
            <a:off x="457200" y="1280160"/>
            <a:ext cx="11277295" cy="12700"/>
          </a:xfrm>
          <a:prstGeom prst="rect">
            <a:avLst/>
          </a:prstGeom>
          <a:solidFill>
            <a:srgbClr val="8C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346807" y="2011680"/>
            <a:ext cx="2926080" cy="2926080"/>
          </a:xfrm>
          <a:prstGeom prst="ellipse">
            <a:avLst/>
          </a:prstGeom>
          <a:solidFill>
            <a:srgbClr val="1C1C1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rIns="365760"/>
          <a:lstStyle/>
          <a:p>
            <a:pPr algn="ctr">
              <a:spcAft>
                <a:spcPts val="600"/>
              </a:spcAft>
            </a:pPr>
            <a:r>
              <a:rPr sz="2200" b="1" i="0">
                <a:solidFill>
                  <a:srgbClr val="FAF9F6"/>
                </a:solidFill>
                <a:latin typeface="Georgia"/>
              </a:rPr>
              <a:t>[ MODEL A ]</a:t>
            </a:r>
          </a:p>
          <a:p>
            <a:r>
              <a:rPr sz="1300" b="0" i="0">
                <a:solidFill>
                  <a:srgbClr val="FAF9F6"/>
                </a:solidFill>
                <a:latin typeface="Arial"/>
              </a:rPr>
              <a:t>[ Key characteristics, advantages, or architectural structures of the first alternative ]</a:t>
            </a:r>
          </a:p>
        </p:txBody>
      </p:sp>
      <p:sp>
        <p:nvSpPr>
          <p:cNvPr id="5" name="Oval 4"/>
          <p:cNvSpPr/>
          <p:nvPr/>
        </p:nvSpPr>
        <p:spPr>
          <a:xfrm>
            <a:off x="6918807" y="2011680"/>
            <a:ext cx="2926080" cy="2926080"/>
          </a:xfrm>
          <a:prstGeom prst="ellipse">
            <a:avLst/>
          </a:prstGeom>
          <a:solidFill>
            <a:srgbClr val="B22222"/>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rIns="365760"/>
          <a:lstStyle/>
          <a:p>
            <a:pPr algn="ctr">
              <a:spcAft>
                <a:spcPts val="600"/>
              </a:spcAft>
            </a:pPr>
            <a:r>
              <a:rPr sz="2200" b="1" i="0">
                <a:solidFill>
                  <a:srgbClr val="FAF9F6"/>
                </a:solidFill>
                <a:latin typeface="Georgia"/>
              </a:rPr>
              <a:t>[ MODEL B ]</a:t>
            </a:r>
          </a:p>
          <a:p>
            <a:r>
              <a:rPr sz="1300" b="0" i="0">
                <a:solidFill>
                  <a:srgbClr val="FAF9F6"/>
                </a:solidFill>
                <a:latin typeface="Arial"/>
              </a:rPr>
              <a:t>[ Key characteristics, advantages, or architectural structures of the second alternative ]</a:t>
            </a:r>
          </a:p>
        </p:txBody>
      </p:sp>
      <p:sp>
        <p:nvSpPr>
          <p:cNvPr id="6" name="TextBox 5"/>
          <p:cNvSpPr txBox="1"/>
          <p:nvPr/>
        </p:nvSpPr>
        <p:spPr>
          <a:xfrm>
            <a:off x="5272887" y="3017520"/>
            <a:ext cx="1645920" cy="914400"/>
          </a:xfrm>
          <a:prstGeom prst="rect">
            <a:avLst/>
          </a:prstGeom>
          <a:noFill/>
        </p:spPr>
        <p:txBody>
          <a:bodyPr wrap="none">
            <a:spAutoFit/>
          </a:bodyPr>
          <a:lstStyle/>
          <a:p>
            <a:pPr algn="ctr"/>
            <a:r>
              <a:rPr sz="2800" b="1" i="0">
                <a:solidFill>
                  <a:srgbClr val="B22222"/>
                </a:solidFill>
                <a:latin typeface="Georgia"/>
              </a:rPr>
              <a:t>VS</a:t>
            </a:r>
          </a:p>
        </p:txBody>
      </p:sp>
      <p:sp>
        <p:nvSpPr>
          <p:cNvPr id="7" name="Rectangle 6"/>
          <p:cNvSpPr/>
          <p:nvPr/>
        </p:nvSpPr>
        <p:spPr>
          <a:xfrm>
            <a:off x="11247120" y="5943600"/>
            <a:ext cx="411480" cy="411480"/>
          </a:xfrm>
          <a:prstGeom prst="rect">
            <a:avLst/>
          </a:prstGeom>
          <a:solidFill>
            <a:srgbClr val="B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1283696" y="5980176"/>
            <a:ext cx="338328" cy="338328"/>
          </a:xfrm>
          <a:prstGeom prst="rect">
            <a:avLst/>
          </a:prstGeom>
          <a:noFill/>
          <a:ln w="12700">
            <a:solidFill>
              <a:srgbClr val="B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TextBox 1"/>
          <p:cNvSpPr txBox="1"/>
          <p:nvPr/>
        </p:nvSpPr>
        <p:spPr>
          <a:xfrm>
            <a:off x="457200" y="365760"/>
            <a:ext cx="11277295" cy="1005840"/>
          </a:xfrm>
          <a:prstGeom prst="rect">
            <a:avLst/>
          </a:prstGeom>
          <a:noFill/>
        </p:spPr>
        <p:txBody>
          <a:bodyPr wrap="square" lIns="0" tIns="0">
            <a:spAutoFit/>
          </a:bodyPr>
          <a:lstStyle/>
          <a:p>
            <a:pPr>
              <a:spcAft>
                <a:spcPts val="200"/>
              </a:spcAft>
            </a:pPr>
            <a:r>
              <a:rPr sz="1000" b="1" i="0">
                <a:solidFill>
                  <a:srgbClr val="B22222"/>
                </a:solidFill>
                <a:latin typeface="Arial"/>
              </a:rPr>
              <a:t>COMPARISON LAYOUTS</a:t>
            </a:r>
          </a:p>
          <a:p>
            <a:pPr>
              <a:spcAft>
                <a:spcPts val="600"/>
              </a:spcAft>
            </a:pPr>
            <a:r>
              <a:rPr sz="2800" b="1" i="0">
                <a:solidFill>
                  <a:srgbClr val="1C1C1C"/>
                </a:solidFill>
                <a:latin typeface="Georgia"/>
              </a:rPr>
              <a:t>[ Structural Matrix / Curatorial Metadata Comparison Table ]</a:t>
            </a:r>
          </a:p>
        </p:txBody>
      </p:sp>
      <p:sp>
        <p:nvSpPr>
          <p:cNvPr id="3" name="Rectangle 2"/>
          <p:cNvSpPr/>
          <p:nvPr/>
        </p:nvSpPr>
        <p:spPr>
          <a:xfrm>
            <a:off x="457200" y="1280160"/>
            <a:ext cx="11277295" cy="12700"/>
          </a:xfrm>
          <a:prstGeom prst="rect">
            <a:avLst/>
          </a:prstGeom>
          <a:solidFill>
            <a:srgbClr val="8C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57200" y="1645920"/>
          <a:ext cx="11277295" cy="4114800"/>
        </p:xfrm>
        <a:graphic>
          <a:graphicData uri="http://schemas.openxmlformats.org/drawingml/2006/table">
            <a:tbl>
              <a:tblPr firstRow="1" bandRow="1">
                <a:tableStyleId>{5C22544A-7EE6-4342-B048-85BDC9FD1C3A}</a:tableStyleId>
              </a:tblPr>
              <a:tblGrid>
                <a:gridCol w="3047695"/>
                <a:gridCol w="2743200"/>
                <a:gridCol w="2743200"/>
                <a:gridCol w="2743200"/>
              </a:tblGrid>
              <a:tr h="822960">
                <a:tc>
                  <a:txBody>
                    <a:bodyPr/>
                    <a:lstStyle/>
                    <a:p>
                      <a:r>
                        <a:rPr sz="1100" b="1" i="0">
                          <a:solidFill>
                            <a:srgbClr val="FAF9F6"/>
                          </a:solidFill>
                          <a:latin typeface="Arial"/>
                        </a:rPr>
                        <a:t>[ METADATA CATEGORY ]</a:t>
                      </a:r>
                    </a:p>
                  </a:txBody>
                  <a:tcPr marT="101600" marB="101600" marL="127000" marR="127000">
                    <a:solidFill>
                      <a:srgbClr val="1C1C1C"/>
                    </a:solidFill>
                  </a:tcPr>
                </a:tc>
                <a:tc>
                  <a:txBody>
                    <a:bodyPr/>
                    <a:lstStyle/>
                    <a:p>
                      <a:r>
                        <a:rPr sz="1100" b="1" i="0">
                          <a:solidFill>
                            <a:srgbClr val="FAF9F6"/>
                          </a:solidFill>
                          <a:latin typeface="Arial"/>
                        </a:rPr>
                        <a:t>[ CRITERIA / TAG 1 ]</a:t>
                      </a:r>
                    </a:p>
                  </a:txBody>
                  <a:tcPr marT="101600" marB="101600" marL="127000" marR="127000">
                    <a:solidFill>
                      <a:srgbClr val="1C1C1C"/>
                    </a:solidFill>
                  </a:tcPr>
                </a:tc>
                <a:tc>
                  <a:txBody>
                    <a:bodyPr/>
                    <a:lstStyle/>
                    <a:p>
                      <a:r>
                        <a:rPr sz="1100" b="1" i="0">
                          <a:solidFill>
                            <a:srgbClr val="FAF9F6"/>
                          </a:solidFill>
                          <a:latin typeface="Arial"/>
                        </a:rPr>
                        <a:t>[ CRITERIA / TAG 2 ]</a:t>
                      </a:r>
                    </a:p>
                  </a:txBody>
                  <a:tcPr marT="101600" marB="101600" marL="127000" marR="127000">
                    <a:solidFill>
                      <a:srgbClr val="1C1C1C"/>
                    </a:solidFill>
                  </a:tcPr>
                </a:tc>
                <a:tc>
                  <a:txBody>
                    <a:bodyPr/>
                    <a:lstStyle/>
                    <a:p>
                      <a:r>
                        <a:rPr sz="1100" b="1" i="0">
                          <a:solidFill>
                            <a:srgbClr val="FAF9F6"/>
                          </a:solidFill>
                          <a:latin typeface="Arial"/>
                        </a:rPr>
                        <a:t>[ CRITERIA / TAG 3 ]</a:t>
                      </a:r>
                    </a:p>
                  </a:txBody>
                  <a:tcPr marT="101600" marB="101600" marL="127000" marR="127000">
                    <a:solidFill>
                      <a:srgbClr val="1C1C1C"/>
                    </a:solidFill>
                  </a:tcPr>
                </a:tc>
              </a:tr>
              <a:tr h="822960">
                <a:tc>
                  <a:txBody>
                    <a:bodyPr/>
                    <a:lstStyle/>
                    <a:p>
                      <a:r>
                        <a:rPr sz="1200" b="0" i="0">
                          <a:solidFill>
                            <a:srgbClr val="1C1C1C"/>
                          </a:solidFill>
                          <a:latin typeface="Arial"/>
                        </a:rPr>
                        <a:t>[ Dimensions / Years ]</a:t>
                      </a:r>
                    </a:p>
                  </a:txBody>
                  <a:tcPr marT="101600" marB="101600" marL="127000" marR="127000">
                    <a:solidFill>
                      <a:srgbClr val="FAF9F6"/>
                    </a:solidFill>
                  </a:tcPr>
                </a:tc>
                <a:tc>
                  <a:txBody>
                    <a:bodyPr/>
                    <a:lstStyle/>
                    <a:p>
                      <a:r>
                        <a:rPr sz="1200" b="0" i="0">
                          <a:solidFill>
                            <a:srgbClr val="1C1C1C"/>
                          </a:solidFill>
                          <a:latin typeface="Arial"/>
                        </a:rPr>
                        <a:t>[ Range Placeholder 1 ]</a:t>
                      </a:r>
                    </a:p>
                  </a:txBody>
                  <a:tcPr marT="101600" marB="101600" marL="127000" marR="127000">
                    <a:solidFill>
                      <a:srgbClr val="FAF9F6"/>
                    </a:solidFill>
                  </a:tcPr>
                </a:tc>
                <a:tc>
                  <a:txBody>
                    <a:bodyPr/>
                    <a:lstStyle/>
                    <a:p>
                      <a:r>
                        <a:rPr sz="1200" b="0" i="0">
                          <a:solidFill>
                            <a:srgbClr val="1C1C1C"/>
                          </a:solidFill>
                          <a:latin typeface="Arial"/>
                        </a:rPr>
                        <a:t>[ Range Placeholder 2 ]</a:t>
                      </a:r>
                    </a:p>
                  </a:txBody>
                  <a:tcPr marT="101600" marB="101600" marL="127000" marR="127000">
                    <a:solidFill>
                      <a:srgbClr val="FAF9F6"/>
                    </a:solidFill>
                  </a:tcPr>
                </a:tc>
                <a:tc>
                  <a:txBody>
                    <a:bodyPr/>
                    <a:lstStyle/>
                    <a:p>
                      <a:r>
                        <a:rPr sz="1200" b="0" i="0">
                          <a:solidFill>
                            <a:srgbClr val="1C1C1C"/>
                          </a:solidFill>
                          <a:latin typeface="Arial"/>
                        </a:rPr>
                        <a:t>[ Range Placeholder 3 ]</a:t>
                      </a:r>
                    </a:p>
                  </a:txBody>
                  <a:tcPr marT="101600" marB="101600" marL="127000" marR="127000">
                    <a:solidFill>
                      <a:srgbClr val="FAF9F6"/>
                    </a:solidFill>
                  </a:tcPr>
                </a:tc>
              </a:tr>
              <a:tr h="822960">
                <a:tc>
                  <a:txBody>
                    <a:bodyPr/>
                    <a:lstStyle/>
                    <a:p>
                      <a:r>
                        <a:rPr sz="1200" b="0" i="0">
                          <a:solidFill>
                            <a:srgbClr val="1C1C1C"/>
                          </a:solidFill>
                          <a:latin typeface="Arial"/>
                        </a:rPr>
                        <a:t>[ Techniques / Ink Styles ]</a:t>
                      </a:r>
                    </a:p>
                  </a:txBody>
                  <a:tcPr marT="101600" marB="101600" marL="127000" marR="127000">
                    <a:solidFill>
                      <a:srgbClr val="EEEEEE"/>
                    </a:solidFill>
                  </a:tcPr>
                </a:tc>
                <a:tc>
                  <a:txBody>
                    <a:bodyPr/>
                    <a:lstStyle/>
                    <a:p>
                      <a:r>
                        <a:rPr sz="1200" b="0" i="0">
                          <a:solidFill>
                            <a:srgbClr val="1C1C1C"/>
                          </a:solidFill>
                          <a:latin typeface="Arial"/>
                        </a:rPr>
                        <a:t>[ Style Placeholder 1 ]</a:t>
                      </a:r>
                    </a:p>
                  </a:txBody>
                  <a:tcPr marT="101600" marB="101600" marL="127000" marR="127000">
                    <a:solidFill>
                      <a:srgbClr val="EEEEEE"/>
                    </a:solidFill>
                  </a:tcPr>
                </a:tc>
                <a:tc>
                  <a:txBody>
                    <a:bodyPr/>
                    <a:lstStyle/>
                    <a:p>
                      <a:r>
                        <a:rPr sz="1200" b="0" i="0">
                          <a:solidFill>
                            <a:srgbClr val="1C1C1C"/>
                          </a:solidFill>
                          <a:latin typeface="Arial"/>
                        </a:rPr>
                        <a:t>[ Style Placeholder 2 ]</a:t>
                      </a:r>
                    </a:p>
                  </a:txBody>
                  <a:tcPr marT="101600" marB="101600" marL="127000" marR="127000">
                    <a:solidFill>
                      <a:srgbClr val="EEEEEE"/>
                    </a:solidFill>
                  </a:tcPr>
                </a:tc>
                <a:tc>
                  <a:txBody>
                    <a:bodyPr/>
                    <a:lstStyle/>
                    <a:p>
                      <a:r>
                        <a:rPr sz="1200" b="0" i="0">
                          <a:solidFill>
                            <a:srgbClr val="1C1C1C"/>
                          </a:solidFill>
                          <a:latin typeface="Arial"/>
                        </a:rPr>
                        <a:t>[ Style Placeholder 3 ]</a:t>
                      </a:r>
                    </a:p>
                  </a:txBody>
                  <a:tcPr marT="101600" marB="101600" marL="127000" marR="127000">
                    <a:solidFill>
                      <a:srgbClr val="EEEEEE"/>
                    </a:solidFill>
                  </a:tcPr>
                </a:tc>
              </a:tr>
              <a:tr h="822960">
                <a:tc>
                  <a:txBody>
                    <a:bodyPr/>
                    <a:lstStyle/>
                    <a:p>
                      <a:r>
                        <a:rPr sz="1200" b="0" i="0">
                          <a:solidFill>
                            <a:srgbClr val="1C1C1C"/>
                          </a:solidFill>
                          <a:latin typeface="Arial"/>
                        </a:rPr>
                        <a:t>[ Private Owner Tracking ]</a:t>
                      </a:r>
                    </a:p>
                  </a:txBody>
                  <a:tcPr marT="101600" marB="101600" marL="127000" marR="127000">
                    <a:solidFill>
                      <a:srgbClr val="FAF9F6"/>
                    </a:solidFill>
                  </a:tcPr>
                </a:tc>
                <a:tc>
                  <a:txBody>
                    <a:bodyPr/>
                    <a:lstStyle/>
                    <a:p>
                      <a:r>
                        <a:rPr sz="1200" b="0" i="0">
                          <a:solidFill>
                            <a:srgbClr val="1C1C1C"/>
                          </a:solidFill>
                          <a:latin typeface="Arial"/>
                        </a:rPr>
                        <a:t>[ Logistics Placeholder 1 ]</a:t>
                      </a:r>
                    </a:p>
                  </a:txBody>
                  <a:tcPr marT="101600" marB="101600" marL="127000" marR="127000">
                    <a:solidFill>
                      <a:srgbClr val="FAF9F6"/>
                    </a:solidFill>
                  </a:tcPr>
                </a:tc>
                <a:tc>
                  <a:txBody>
                    <a:bodyPr/>
                    <a:lstStyle/>
                    <a:p>
                      <a:r>
                        <a:rPr sz="1200" b="0" i="0">
                          <a:solidFill>
                            <a:srgbClr val="1C1C1C"/>
                          </a:solidFill>
                          <a:latin typeface="Arial"/>
                        </a:rPr>
                        <a:t>[ Logistics Placeholder 2 ]</a:t>
                      </a:r>
                    </a:p>
                  </a:txBody>
                  <a:tcPr marT="101600" marB="101600" marL="127000" marR="127000">
                    <a:solidFill>
                      <a:srgbClr val="FAF9F6"/>
                    </a:solidFill>
                  </a:tcPr>
                </a:tc>
                <a:tc>
                  <a:txBody>
                    <a:bodyPr/>
                    <a:lstStyle/>
                    <a:p>
                      <a:r>
                        <a:rPr sz="1200" b="0" i="0">
                          <a:solidFill>
                            <a:srgbClr val="1C1C1C"/>
                          </a:solidFill>
                          <a:latin typeface="Arial"/>
                        </a:rPr>
                        <a:t>[ Logistics Placeholder 3 ]</a:t>
                      </a:r>
                    </a:p>
                  </a:txBody>
                  <a:tcPr marT="101600" marB="101600" marL="127000" marR="127000">
                    <a:solidFill>
                      <a:srgbClr val="FAF9F6"/>
                    </a:solidFill>
                  </a:tcPr>
                </a:tc>
              </a:tr>
              <a:tr h="822960">
                <a:tc>
                  <a:txBody>
                    <a:bodyPr/>
                    <a:lstStyle/>
                    <a:p>
                      <a:r>
                        <a:rPr sz="1200" b="0" i="0">
                          <a:solidFill>
                            <a:srgbClr val="1C1C1C"/>
                          </a:solidFill>
                          <a:latin typeface="Arial"/>
                        </a:rPr>
                        <a:t>[ Global Venues (e.g. France) ]</a:t>
                      </a:r>
                    </a:p>
                  </a:txBody>
                  <a:tcPr marT="101600" marB="101600" marL="127000" marR="127000">
                    <a:solidFill>
                      <a:srgbClr val="EEEEEE"/>
                    </a:solidFill>
                  </a:tcPr>
                </a:tc>
                <a:tc>
                  <a:txBody>
                    <a:bodyPr/>
                    <a:lstStyle/>
                    <a:p>
                      <a:r>
                        <a:rPr sz="1200" b="0" i="0">
                          <a:solidFill>
                            <a:srgbClr val="1C1C1C"/>
                          </a:solidFill>
                          <a:latin typeface="Arial"/>
                        </a:rPr>
                        <a:t>[ Exhibition Prep 1 ]</a:t>
                      </a:r>
                    </a:p>
                  </a:txBody>
                  <a:tcPr marT="101600" marB="101600" marL="127000" marR="127000">
                    <a:solidFill>
                      <a:srgbClr val="EEEEEE"/>
                    </a:solidFill>
                  </a:tcPr>
                </a:tc>
                <a:tc>
                  <a:txBody>
                    <a:bodyPr/>
                    <a:lstStyle/>
                    <a:p>
                      <a:r>
                        <a:rPr sz="1200" b="0" i="0">
                          <a:solidFill>
                            <a:srgbClr val="1C1C1C"/>
                          </a:solidFill>
                          <a:latin typeface="Arial"/>
                        </a:rPr>
                        <a:t>[ Exhibition Prep 2 ]</a:t>
                      </a:r>
                    </a:p>
                  </a:txBody>
                  <a:tcPr marT="101600" marB="101600" marL="127000" marR="127000">
                    <a:solidFill>
                      <a:srgbClr val="EEEEEE"/>
                    </a:solidFill>
                  </a:tcPr>
                </a:tc>
                <a:tc>
                  <a:txBody>
                    <a:bodyPr/>
                    <a:lstStyle/>
                    <a:p>
                      <a:r>
                        <a:rPr sz="1200" b="0" i="0">
                          <a:solidFill>
                            <a:srgbClr val="1C1C1C"/>
                          </a:solidFill>
                          <a:latin typeface="Arial"/>
                        </a:rPr>
                        <a:t>[ Exhibition Prep 3 ]</a:t>
                      </a:r>
                    </a:p>
                  </a:txBody>
                  <a:tcPr marT="101600" marB="101600" marL="127000" marR="127000">
                    <a:solidFill>
                      <a:srgbClr val="EEEEEE"/>
                    </a:solidFill>
                  </a:tcPr>
                </a:tc>
              </a:tr>
            </a:tbl>
          </a:graphicData>
        </a:graphic>
      </p:graphicFrame>
      <p:sp>
        <p:nvSpPr>
          <p:cNvPr id="5" name="Rectangle 4"/>
          <p:cNvSpPr/>
          <p:nvPr/>
        </p:nvSpPr>
        <p:spPr>
          <a:xfrm>
            <a:off x="11247120" y="5943600"/>
            <a:ext cx="411480" cy="411480"/>
          </a:xfrm>
          <a:prstGeom prst="rect">
            <a:avLst/>
          </a:prstGeom>
          <a:solidFill>
            <a:srgbClr val="B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1283696" y="5980176"/>
            <a:ext cx="338328" cy="338328"/>
          </a:xfrm>
          <a:prstGeom prst="rect">
            <a:avLst/>
          </a:prstGeom>
          <a:noFill/>
          <a:ln w="12700">
            <a:solidFill>
              <a:srgbClr val="B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TextBox 1"/>
          <p:cNvSpPr txBox="1"/>
          <p:nvPr/>
        </p:nvSpPr>
        <p:spPr>
          <a:xfrm>
            <a:off x="457200" y="365760"/>
            <a:ext cx="11277295" cy="1005840"/>
          </a:xfrm>
          <a:prstGeom prst="rect">
            <a:avLst/>
          </a:prstGeom>
          <a:noFill/>
        </p:spPr>
        <p:txBody>
          <a:bodyPr wrap="square" lIns="0" tIns="0">
            <a:spAutoFit/>
          </a:bodyPr>
          <a:lstStyle/>
          <a:p>
            <a:pPr>
              <a:spcAft>
                <a:spcPts val="200"/>
              </a:spcAft>
            </a:pPr>
            <a:r>
              <a:rPr sz="1000" b="1" i="0">
                <a:solidFill>
                  <a:srgbClr val="B22222"/>
                </a:solidFill>
                <a:latin typeface="Arial"/>
              </a:rPr>
              <a:t>MEDIA LAYOUTS</a:t>
            </a:r>
          </a:p>
          <a:p>
            <a:pPr>
              <a:spcAft>
                <a:spcPts val="600"/>
              </a:spcAft>
            </a:pPr>
            <a:r>
              <a:rPr sz="2800" b="1" i="0">
                <a:solidFill>
                  <a:srgbClr val="1C1C1C"/>
                </a:solidFill>
                <a:latin typeface="Georgia"/>
              </a:rPr>
              <a:t>[ Exhibition Showcase / Visual Hero Layout Template ]</a:t>
            </a:r>
          </a:p>
        </p:txBody>
      </p:sp>
      <p:sp>
        <p:nvSpPr>
          <p:cNvPr id="3" name="Rectangle 2"/>
          <p:cNvSpPr/>
          <p:nvPr/>
        </p:nvSpPr>
        <p:spPr>
          <a:xfrm>
            <a:off x="457200" y="1280160"/>
            <a:ext cx="11277295" cy="12700"/>
          </a:xfrm>
          <a:prstGeom prst="rect">
            <a:avLst/>
          </a:prstGeom>
          <a:solidFill>
            <a:srgbClr val="8C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1645920"/>
            <a:ext cx="6858000" cy="4114800"/>
          </a:xfrm>
          <a:prstGeom prst="rect">
            <a:avLst/>
          </a:prstGeom>
          <a:solidFill>
            <a:srgbClr val="EEEEEE"/>
          </a:solidFill>
          <a:ln w="12700">
            <a:solidFill>
              <a:srgbClr val="1C1C1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i="0">
                <a:solidFill>
                  <a:srgbClr val="8C8C8C"/>
                </a:solidFill>
                <a:latin typeface="Arial"/>
              </a:rPr>
              <a:t>[ PLACEHOLDER FOR MASTERPIECE IMAGE OR SCREENSHOT / HIGH-RESOLUTION DIGITAL CONTENT FRAME ]</a:t>
            </a:r>
          </a:p>
        </p:txBody>
      </p:sp>
      <p:sp>
        <p:nvSpPr>
          <p:cNvPr id="5" name="TextBox 4"/>
          <p:cNvSpPr txBox="1"/>
          <p:nvPr/>
        </p:nvSpPr>
        <p:spPr>
          <a:xfrm>
            <a:off x="7589520" y="1645920"/>
            <a:ext cx="4114800" cy="4114800"/>
          </a:xfrm>
          <a:prstGeom prst="rect">
            <a:avLst/>
          </a:prstGeom>
          <a:noFill/>
        </p:spPr>
        <p:txBody>
          <a:bodyPr wrap="square" lIns="0" tIns="0">
            <a:spAutoFit/>
          </a:bodyPr>
          <a:lstStyle/>
          <a:p>
            <a:pPr>
              <a:spcAft>
                <a:spcPts val="800"/>
              </a:spcAft>
            </a:pPr>
            <a:r>
              <a:rPr sz="1800" b="1" i="0">
                <a:solidFill>
                  <a:srgbClr val="B22222"/>
                </a:solidFill>
                <a:latin typeface="Georgia"/>
              </a:rPr>
              <a:t>[ Curatorial Note / Masterpiece Tag ]</a:t>
            </a:r>
          </a:p>
          <a:p>
            <a:r>
              <a:rPr sz="1400" b="0" i="0">
                <a:solidFill>
                  <a:srgbClr val="1C1C1C"/>
                </a:solidFill>
                <a:latin typeface="Arial"/>
              </a:rPr>
              <a:t>[ Enter detailed structural descriptions of the visual content displayed on the left. Highly suited for deep-diving into individual artworks, explaining the interplay of white emptiness and charcoal density, or illustrating mobile interfaces of the showcase website. Keep paragraphs descriptive and grounded in artistic history. ]</a:t>
            </a:r>
          </a:p>
        </p:txBody>
      </p:sp>
      <p:sp>
        <p:nvSpPr>
          <p:cNvPr id="6" name="Rectangle 5"/>
          <p:cNvSpPr/>
          <p:nvPr/>
        </p:nvSpPr>
        <p:spPr>
          <a:xfrm>
            <a:off x="11247120" y="5943600"/>
            <a:ext cx="411480" cy="411480"/>
          </a:xfrm>
          <a:prstGeom prst="rect">
            <a:avLst/>
          </a:prstGeom>
          <a:solidFill>
            <a:srgbClr val="B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1283696" y="5980176"/>
            <a:ext cx="338328" cy="338328"/>
          </a:xfrm>
          <a:prstGeom prst="rect">
            <a:avLst/>
          </a:prstGeom>
          <a:noFill/>
          <a:ln w="12700">
            <a:solidFill>
              <a:srgbClr val="B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TextBox 1"/>
          <p:cNvSpPr txBox="1"/>
          <p:nvPr/>
        </p:nvSpPr>
        <p:spPr>
          <a:xfrm>
            <a:off x="457200" y="365760"/>
            <a:ext cx="11277295" cy="1005840"/>
          </a:xfrm>
          <a:prstGeom prst="rect">
            <a:avLst/>
          </a:prstGeom>
          <a:noFill/>
        </p:spPr>
        <p:txBody>
          <a:bodyPr wrap="square" lIns="0" tIns="0">
            <a:spAutoFit/>
          </a:bodyPr>
          <a:lstStyle/>
          <a:p>
            <a:pPr>
              <a:spcAft>
                <a:spcPts val="200"/>
              </a:spcAft>
            </a:pPr>
            <a:r>
              <a:rPr sz="1000" b="1" i="0">
                <a:solidFill>
                  <a:srgbClr val="B22222"/>
                </a:solidFill>
                <a:latin typeface="Arial"/>
              </a:rPr>
              <a:t>MEDIA LAYOUTS</a:t>
            </a:r>
          </a:p>
          <a:p>
            <a:pPr>
              <a:spcAft>
                <a:spcPts val="600"/>
              </a:spcAft>
            </a:pPr>
            <a:r>
              <a:rPr sz="2800" b="1" i="0">
                <a:solidFill>
                  <a:srgbClr val="1C1C1C"/>
                </a:solidFill>
                <a:latin typeface="Georgia"/>
              </a:rPr>
              <a:t>[ 3-Image Digital Gallery / Portfolio Grid Template ]</a:t>
            </a:r>
          </a:p>
        </p:txBody>
      </p:sp>
      <p:sp>
        <p:nvSpPr>
          <p:cNvPr id="3" name="Rectangle 2"/>
          <p:cNvSpPr/>
          <p:nvPr/>
        </p:nvSpPr>
        <p:spPr>
          <a:xfrm>
            <a:off x="457200" y="1280160"/>
            <a:ext cx="11277295" cy="12700"/>
          </a:xfrm>
          <a:prstGeom prst="rect">
            <a:avLst/>
          </a:prstGeom>
          <a:solidFill>
            <a:srgbClr val="8C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1645920"/>
            <a:ext cx="3474720" cy="2560320"/>
          </a:xfrm>
          <a:prstGeom prst="rect">
            <a:avLst/>
          </a:prstGeom>
          <a:solidFill>
            <a:srgbClr val="EEEEEE"/>
          </a:solidFill>
          <a:ln w="12700">
            <a:solidFill>
              <a:srgbClr val="1C1C1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i="0">
                <a:solidFill>
                  <a:srgbClr val="8C8C8C"/>
                </a:solidFill>
                <a:latin typeface="Arial"/>
              </a:rPr>
              <a:t>[ GALLERY ITEM PLACEHOLDER 01 ]</a:t>
            </a:r>
          </a:p>
        </p:txBody>
      </p:sp>
      <p:sp>
        <p:nvSpPr>
          <p:cNvPr id="5" name="TextBox 4"/>
          <p:cNvSpPr txBox="1"/>
          <p:nvPr/>
        </p:nvSpPr>
        <p:spPr>
          <a:xfrm>
            <a:off x="457200" y="4297680"/>
            <a:ext cx="3474720" cy="914400"/>
          </a:xfrm>
          <a:prstGeom prst="rect">
            <a:avLst/>
          </a:prstGeom>
          <a:noFill/>
        </p:spPr>
        <p:txBody>
          <a:bodyPr wrap="square" lIns="0" tIns="0">
            <a:spAutoFit/>
          </a:bodyPr>
          <a:lstStyle/>
          <a:p>
            <a:r>
              <a:rPr sz="1400" b="1" i="0">
                <a:solidFill>
                  <a:srgbClr val="B22222"/>
                </a:solidFill>
                <a:latin typeface="Georgia"/>
              </a:rPr>
              <a:t>[ Title / Era Label 01 ]</a:t>
            </a:r>
          </a:p>
          <a:p>
            <a:r>
              <a:rPr sz="1200" b="0" i="0">
                <a:solidFill>
                  <a:srgbClr val="1C1C1C"/>
                </a:solidFill>
                <a:latin typeface="Arial"/>
              </a:rPr>
              <a:t>[ Enter dimensions, techniques, and era details ]</a:t>
            </a:r>
          </a:p>
        </p:txBody>
      </p:sp>
      <p:sp>
        <p:nvSpPr>
          <p:cNvPr id="6" name="Rectangle 5"/>
          <p:cNvSpPr/>
          <p:nvPr/>
        </p:nvSpPr>
        <p:spPr>
          <a:xfrm>
            <a:off x="4297680" y="1645920"/>
            <a:ext cx="3474720" cy="2560320"/>
          </a:xfrm>
          <a:prstGeom prst="rect">
            <a:avLst/>
          </a:prstGeom>
          <a:solidFill>
            <a:srgbClr val="EEEEEE"/>
          </a:solidFill>
          <a:ln w="12700">
            <a:solidFill>
              <a:srgbClr val="1C1C1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i="0">
                <a:solidFill>
                  <a:srgbClr val="8C8C8C"/>
                </a:solidFill>
                <a:latin typeface="Arial"/>
              </a:rPr>
              <a:t>[ GALLERY ITEM PLACEHOLDER 02 ]</a:t>
            </a:r>
          </a:p>
        </p:txBody>
      </p:sp>
      <p:sp>
        <p:nvSpPr>
          <p:cNvPr id="7" name="TextBox 6"/>
          <p:cNvSpPr txBox="1"/>
          <p:nvPr/>
        </p:nvSpPr>
        <p:spPr>
          <a:xfrm>
            <a:off x="4297680" y="4297680"/>
            <a:ext cx="3474720" cy="914400"/>
          </a:xfrm>
          <a:prstGeom prst="rect">
            <a:avLst/>
          </a:prstGeom>
          <a:noFill/>
        </p:spPr>
        <p:txBody>
          <a:bodyPr wrap="square" lIns="0" tIns="0">
            <a:spAutoFit/>
          </a:bodyPr>
          <a:lstStyle/>
          <a:p>
            <a:r>
              <a:rPr sz="1400" b="1" i="0">
                <a:solidFill>
                  <a:srgbClr val="B22222"/>
                </a:solidFill>
                <a:latin typeface="Georgia"/>
              </a:rPr>
              <a:t>[ Title / Era Label 02 ]</a:t>
            </a:r>
          </a:p>
          <a:p>
            <a:r>
              <a:rPr sz="1200" b="0" i="0">
                <a:solidFill>
                  <a:srgbClr val="1C1C1C"/>
                </a:solidFill>
                <a:latin typeface="Arial"/>
              </a:rPr>
              <a:t>[ Enter dimensions, techniques, and era details ]</a:t>
            </a:r>
          </a:p>
        </p:txBody>
      </p:sp>
      <p:sp>
        <p:nvSpPr>
          <p:cNvPr id="8" name="Rectangle 7"/>
          <p:cNvSpPr/>
          <p:nvPr/>
        </p:nvSpPr>
        <p:spPr>
          <a:xfrm>
            <a:off x="8138160" y="1645920"/>
            <a:ext cx="3474720" cy="2560320"/>
          </a:xfrm>
          <a:prstGeom prst="rect">
            <a:avLst/>
          </a:prstGeom>
          <a:solidFill>
            <a:srgbClr val="EEEEEE"/>
          </a:solidFill>
          <a:ln w="12700">
            <a:solidFill>
              <a:srgbClr val="1C1C1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i="0">
                <a:solidFill>
                  <a:srgbClr val="8C8C8C"/>
                </a:solidFill>
                <a:latin typeface="Arial"/>
              </a:rPr>
              <a:t>[ GALLERY ITEM PLACEHOLDER 03 ]</a:t>
            </a:r>
          </a:p>
        </p:txBody>
      </p:sp>
      <p:sp>
        <p:nvSpPr>
          <p:cNvPr id="9" name="TextBox 8"/>
          <p:cNvSpPr txBox="1"/>
          <p:nvPr/>
        </p:nvSpPr>
        <p:spPr>
          <a:xfrm>
            <a:off x="8138160" y="4297680"/>
            <a:ext cx="3474720" cy="914400"/>
          </a:xfrm>
          <a:prstGeom prst="rect">
            <a:avLst/>
          </a:prstGeom>
          <a:noFill/>
        </p:spPr>
        <p:txBody>
          <a:bodyPr wrap="square" lIns="0" tIns="0">
            <a:spAutoFit/>
          </a:bodyPr>
          <a:lstStyle/>
          <a:p>
            <a:r>
              <a:rPr sz="1400" b="1" i="0">
                <a:solidFill>
                  <a:srgbClr val="B22222"/>
                </a:solidFill>
                <a:latin typeface="Georgia"/>
              </a:rPr>
              <a:t>[ Title / Era Label 03 ]</a:t>
            </a:r>
          </a:p>
          <a:p>
            <a:r>
              <a:rPr sz="1200" b="0" i="0">
                <a:solidFill>
                  <a:srgbClr val="1C1C1C"/>
                </a:solidFill>
                <a:latin typeface="Arial"/>
              </a:rPr>
              <a:t>[ Enter dimensions, techniques, and era details ]</a:t>
            </a:r>
          </a:p>
        </p:txBody>
      </p:sp>
      <p:sp>
        <p:nvSpPr>
          <p:cNvPr id="10" name="Rectangle 9"/>
          <p:cNvSpPr/>
          <p:nvPr/>
        </p:nvSpPr>
        <p:spPr>
          <a:xfrm>
            <a:off x="11247120" y="5943600"/>
            <a:ext cx="411480" cy="411480"/>
          </a:xfrm>
          <a:prstGeom prst="rect">
            <a:avLst/>
          </a:prstGeom>
          <a:solidFill>
            <a:srgbClr val="B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1283696" y="5980176"/>
            <a:ext cx="338328" cy="338328"/>
          </a:xfrm>
          <a:prstGeom prst="rect">
            <a:avLst/>
          </a:prstGeom>
          <a:noFill/>
          <a:ln w="12700">
            <a:solidFill>
              <a:srgbClr val="B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TextBox 1"/>
          <p:cNvSpPr txBox="1"/>
          <p:nvPr/>
        </p:nvSpPr>
        <p:spPr>
          <a:xfrm>
            <a:off x="457200" y="365760"/>
            <a:ext cx="11277295" cy="1005840"/>
          </a:xfrm>
          <a:prstGeom prst="rect">
            <a:avLst/>
          </a:prstGeom>
          <a:noFill/>
        </p:spPr>
        <p:txBody>
          <a:bodyPr wrap="square" lIns="0" tIns="0">
            <a:spAutoFit/>
          </a:bodyPr>
          <a:lstStyle/>
          <a:p>
            <a:pPr>
              <a:spcAft>
                <a:spcPts val="200"/>
              </a:spcAft>
            </a:pPr>
            <a:r>
              <a:rPr sz="1000" b="1" i="0">
                <a:solidFill>
                  <a:srgbClr val="B22222"/>
                </a:solidFill>
                <a:latin typeface="Arial"/>
              </a:rPr>
              <a:t>METRIC LAYOUTS</a:t>
            </a:r>
          </a:p>
          <a:p>
            <a:pPr>
              <a:spcAft>
                <a:spcPts val="600"/>
              </a:spcAft>
            </a:pPr>
            <a:r>
              <a:rPr sz="2800" b="1" i="0">
                <a:solidFill>
                  <a:srgbClr val="1C1C1C"/>
                </a:solidFill>
                <a:latin typeface="Georgia"/>
              </a:rPr>
              <a:t>[ Resource Allocation / Component Proportions Template ]</a:t>
            </a:r>
          </a:p>
        </p:txBody>
      </p:sp>
      <p:sp>
        <p:nvSpPr>
          <p:cNvPr id="3" name="Rectangle 2"/>
          <p:cNvSpPr/>
          <p:nvPr/>
        </p:nvSpPr>
        <p:spPr>
          <a:xfrm>
            <a:off x="457200" y="1280160"/>
            <a:ext cx="11277295" cy="12700"/>
          </a:xfrm>
          <a:prstGeom prst="rect">
            <a:avLst/>
          </a:prstGeom>
          <a:solidFill>
            <a:srgbClr val="8C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2011680"/>
            <a:ext cx="4510918" cy="1097280"/>
          </a:xfrm>
          <a:prstGeom prst="rect">
            <a:avLst/>
          </a:prstGeom>
          <a:solidFill>
            <a:srgbClr val="1C1C1C"/>
          </a:solidFill>
          <a:ln w="25400">
            <a:solidFill>
              <a:srgbClr val="FAF9F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i="0">
                <a:solidFill>
                  <a:srgbClr val="FAF9F6"/>
                </a:solidFill>
                <a:latin typeface="Arial"/>
              </a:rPr>
              <a:t>[ SEGMENT 1 / 40% ]</a:t>
            </a:r>
          </a:p>
        </p:txBody>
      </p:sp>
      <p:sp>
        <p:nvSpPr>
          <p:cNvPr id="5" name="Rectangle 4"/>
          <p:cNvSpPr/>
          <p:nvPr/>
        </p:nvSpPr>
        <p:spPr>
          <a:xfrm>
            <a:off x="4968118" y="2011680"/>
            <a:ext cx="3383188" cy="1097280"/>
          </a:xfrm>
          <a:prstGeom prst="rect">
            <a:avLst/>
          </a:prstGeom>
          <a:solidFill>
            <a:srgbClr val="B22222"/>
          </a:solidFill>
          <a:ln w="25400">
            <a:solidFill>
              <a:srgbClr val="FAF9F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i="0">
                <a:solidFill>
                  <a:srgbClr val="FAF9F6"/>
                </a:solidFill>
                <a:latin typeface="Arial"/>
              </a:rPr>
              <a:t>[ SEGMENT 2 / 30% ]</a:t>
            </a:r>
          </a:p>
        </p:txBody>
      </p:sp>
      <p:sp>
        <p:nvSpPr>
          <p:cNvPr id="6" name="Rectangle 5"/>
          <p:cNvSpPr/>
          <p:nvPr/>
        </p:nvSpPr>
        <p:spPr>
          <a:xfrm>
            <a:off x="8351306" y="2011680"/>
            <a:ext cx="2255459" cy="1097280"/>
          </a:xfrm>
          <a:prstGeom prst="rect">
            <a:avLst/>
          </a:prstGeom>
          <a:solidFill>
            <a:srgbClr val="8C8C8C"/>
          </a:solidFill>
          <a:ln w="25400">
            <a:solidFill>
              <a:srgbClr val="FAF9F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i="0">
                <a:solidFill>
                  <a:srgbClr val="FAF9F6"/>
                </a:solidFill>
                <a:latin typeface="Arial"/>
              </a:rPr>
              <a:t>[ SEGMENT 3 / 20% ]</a:t>
            </a:r>
          </a:p>
        </p:txBody>
      </p:sp>
      <p:sp>
        <p:nvSpPr>
          <p:cNvPr id="7" name="Rectangle 6"/>
          <p:cNvSpPr/>
          <p:nvPr/>
        </p:nvSpPr>
        <p:spPr>
          <a:xfrm>
            <a:off x="10606765" y="2011680"/>
            <a:ext cx="1127729" cy="1097280"/>
          </a:xfrm>
          <a:prstGeom prst="rect">
            <a:avLst/>
          </a:prstGeom>
          <a:solidFill>
            <a:srgbClr val="EEEEEE"/>
          </a:solidFill>
          <a:ln w="25400">
            <a:solidFill>
              <a:srgbClr val="FAF9F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i="0">
                <a:solidFill>
                  <a:srgbClr val="1C1C1C"/>
                </a:solidFill>
                <a:latin typeface="Arial"/>
              </a:rPr>
              <a:t>[ SEGMENT 4 / 10% ]</a:t>
            </a:r>
          </a:p>
        </p:txBody>
      </p:sp>
      <p:sp>
        <p:nvSpPr>
          <p:cNvPr id="8" name="TextBox 7"/>
          <p:cNvSpPr txBox="1"/>
          <p:nvPr/>
        </p:nvSpPr>
        <p:spPr>
          <a:xfrm>
            <a:off x="457200" y="3474720"/>
            <a:ext cx="11277295" cy="2286000"/>
          </a:xfrm>
          <a:prstGeom prst="rect">
            <a:avLst/>
          </a:prstGeom>
          <a:noFill/>
        </p:spPr>
        <p:txBody>
          <a:bodyPr wrap="square" lIns="0" tIns="0">
            <a:spAutoFit/>
          </a:bodyPr>
          <a:lstStyle/>
          <a:p>
            <a:pPr>
              <a:spcAft>
                <a:spcPts val="800"/>
              </a:spcAft>
            </a:pPr>
            <a:r>
              <a:rPr sz="1800" b="1" i="0">
                <a:solidFill>
                  <a:srgbClr val="1C1C1C"/>
                </a:solidFill>
                <a:latin typeface="Georgia"/>
              </a:rPr>
              <a:t>[ PROPORTIONAL METRIC BREAKDOWN ]</a:t>
            </a:r>
          </a:p>
          <a:p>
            <a:r>
              <a:rPr sz="1400" b="0" i="0">
                <a:solidFill>
                  <a:srgbClr val="1C1C1C"/>
                </a:solidFill>
                <a:latin typeface="Arial"/>
              </a:rPr>
              <a:t>[ Use this horizontal segmented progress / volume bar to represent components of a budget, database storage distribution, physical location allocations, or operational project resource ratios. Clearly link each percentage category to a tangible project component above. ]</a:t>
            </a:r>
          </a:p>
        </p:txBody>
      </p:sp>
      <p:sp>
        <p:nvSpPr>
          <p:cNvPr id="9" name="Rectangle 8"/>
          <p:cNvSpPr/>
          <p:nvPr/>
        </p:nvSpPr>
        <p:spPr>
          <a:xfrm>
            <a:off x="11247120" y="5943600"/>
            <a:ext cx="411480" cy="411480"/>
          </a:xfrm>
          <a:prstGeom prst="rect">
            <a:avLst/>
          </a:prstGeom>
          <a:solidFill>
            <a:srgbClr val="B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1283696" y="5980176"/>
            <a:ext cx="338328" cy="338328"/>
          </a:xfrm>
          <a:prstGeom prst="rect">
            <a:avLst/>
          </a:prstGeom>
          <a:noFill/>
          <a:ln w="12700">
            <a:solidFill>
              <a:srgbClr val="B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Rectangle 1"/>
          <p:cNvSpPr/>
          <p:nvPr/>
        </p:nvSpPr>
        <p:spPr>
          <a:xfrm>
            <a:off x="0" y="0"/>
            <a:ext cx="365760" cy="6858000"/>
          </a:xfrm>
          <a:prstGeom prst="rect">
            <a:avLst/>
          </a:prstGeom>
          <a:solidFill>
            <a:srgbClr val="B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1828800"/>
            <a:ext cx="9445752" cy="4114800"/>
          </a:xfrm>
          <a:prstGeom prst="rect">
            <a:avLst/>
          </a:prstGeom>
          <a:noFill/>
        </p:spPr>
        <p:txBody>
          <a:bodyPr wrap="square">
            <a:spAutoFit/>
          </a:bodyPr>
          <a:lstStyle/>
          <a:p>
            <a:pPr>
              <a:spcAft>
                <a:spcPts val="800"/>
              </a:spcAft>
            </a:pPr>
            <a:r>
              <a:rPr sz="1200" b="1" i="0">
                <a:solidFill>
                  <a:srgbClr val="B22222"/>
                </a:solidFill>
                <a:latin typeface="Arial"/>
              </a:rPr>
              <a:t>THE ROAD AHEAD</a:t>
            </a:r>
          </a:p>
          <a:p>
            <a:pPr>
              <a:spcAft>
                <a:spcPts val="1400"/>
              </a:spcAft>
            </a:pPr>
            <a:r>
              <a:rPr sz="3800" b="1" i="0">
                <a:solidFill>
                  <a:srgbClr val="1C1C1C"/>
                </a:solidFill>
                <a:latin typeface="Georgia"/>
              </a:rPr>
              <a:t>[ Insert Thank You / Final Call to Action Statement ]</a:t>
            </a:r>
          </a:p>
          <a:p>
            <a:pPr>
              <a:spcAft>
                <a:spcPts val="2000"/>
              </a:spcAft>
            </a:pPr>
            <a:r>
              <a:rPr sz="1400" b="0" i="1">
                <a:solidFill>
                  <a:srgbClr val="8C8C8C"/>
                </a:solidFill>
                <a:latin typeface="Arial"/>
              </a:rPr>
              <a:t>[ Provide a concrete set of next steps or action items for team members to gather materials, wrap up code modules, or contact international curators. ]</a:t>
            </a:r>
          </a:p>
          <a:p>
            <a:pPr lvl="1">
              <a:spcAft>
                <a:spcPts val="800"/>
              </a:spcAft>
            </a:pPr>
            <a:r>
              <a:rPr sz="1300" b="0" i="0">
                <a:solidFill>
                  <a:srgbClr val="1C1C1C"/>
                </a:solidFill>
                <a:latin typeface="Arial"/>
              </a:rPr>
              <a:t>▪  [ Action Item 1: Securely gather and digitize remaining physical artwork logs ]</a:t>
            </a:r>
          </a:p>
          <a:p>
            <a:pPr lvl="1">
              <a:spcAft>
                <a:spcPts val="800"/>
              </a:spcAft>
            </a:pPr>
            <a:r>
              <a:rPr sz="1300" b="0" i="0">
                <a:solidFill>
                  <a:srgbClr val="1C1C1C"/>
                </a:solidFill>
                <a:latin typeface="Arial"/>
              </a:rPr>
              <a:t>▪  [ Action Item 2: Finalize content translation frameworks for multilingual support ]</a:t>
            </a:r>
          </a:p>
          <a:p>
            <a:pPr lvl="1">
              <a:spcAft>
                <a:spcPts val="800"/>
              </a:spcAft>
            </a:pPr>
            <a:r>
              <a:rPr sz="1300" b="0" i="0">
                <a:solidFill>
                  <a:srgbClr val="1C1C1C"/>
                </a:solidFill>
                <a:latin typeface="Arial"/>
              </a:rPr>
              <a:t>▪  [ Action Item 3: Reach out to curated pilot venues and schedule dry-run exhibitions ]</a:t>
            </a:r>
          </a:p>
        </p:txBody>
      </p:sp>
      <p:sp>
        <p:nvSpPr>
          <p:cNvPr id="4" name="Rectangle 3"/>
          <p:cNvSpPr/>
          <p:nvPr/>
        </p:nvSpPr>
        <p:spPr>
          <a:xfrm>
            <a:off x="10972800" y="5669280"/>
            <a:ext cx="548640" cy="548640"/>
          </a:xfrm>
          <a:prstGeom prst="rect">
            <a:avLst/>
          </a:prstGeom>
          <a:solidFill>
            <a:srgbClr val="B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009376" y="5705856"/>
            <a:ext cx="475488" cy="475488"/>
          </a:xfrm>
          <a:prstGeom prst="rect">
            <a:avLst/>
          </a:prstGeom>
          <a:noFill/>
          <a:ln w="12700">
            <a:solidFill>
              <a:srgbClr val="B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