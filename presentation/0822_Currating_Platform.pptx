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61" r:id="rId14"/>
    <p:sldId id="264" r:id="rId15"/>
    <p:sldId id="282" r:id="rId16"/>
    <p:sldId id="28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92"/>
    <p:restoredTop sz="94658"/>
  </p:normalViewPr>
  <p:slideViewPr>
    <p:cSldViewPr snapToGrid="0" snapToObjects="1">
      <p:cViewPr>
        <p:scale>
          <a:sx n="75" d="100"/>
          <a:sy n="75" d="100"/>
        </p:scale>
        <p:origin x="776" y="1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3318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b="1" i="0" dirty="0">
                <a:solidFill>
                  <a:srgbClr val="B22222"/>
                </a:solidFill>
                <a:latin typeface="Arial"/>
              </a:rPr>
              <a:t>Launch in December 2026 </a:t>
            </a:r>
            <a:r>
              <a:rPr b="1" i="0" dirty="0">
                <a:solidFill>
                  <a:srgbClr val="B22222"/>
                </a:solidFill>
                <a:latin typeface="Arial"/>
              </a:rPr>
              <a:t>/ </a:t>
            </a:r>
            <a:r>
              <a:rPr lang="en-US" b="1" i="0" dirty="0" err="1">
                <a:solidFill>
                  <a:srgbClr val="B22222"/>
                </a:solidFill>
                <a:latin typeface="Arial"/>
              </a:rPr>
              <a:t>FiFi</a:t>
            </a:r>
            <a:r>
              <a:rPr lang="en-US" b="1" i="0" dirty="0">
                <a:solidFill>
                  <a:srgbClr val="B22222"/>
                </a:solidFill>
                <a:latin typeface="Arial"/>
              </a:rPr>
              <a:t> &amp; Greg</a:t>
            </a:r>
            <a:endParaRPr b="1" i="0" dirty="0">
              <a:solidFill>
                <a:srgbClr val="B22222"/>
              </a:solidFill>
              <a:latin typeface="Arial"/>
            </a:endParaRPr>
          </a:p>
          <a:p>
            <a:pPr>
              <a:spcAft>
                <a:spcPts val="1400"/>
              </a:spcAft>
            </a:pPr>
            <a:r>
              <a:rPr lang="en-US" sz="4400" b="1" dirty="0">
                <a:solidFill>
                  <a:srgbClr val="1C1C1C"/>
                </a:solidFill>
                <a:latin typeface="Georgia"/>
              </a:rPr>
              <a:t>Preserving a Legacy:</a:t>
            </a:r>
          </a:p>
          <a:p>
            <a:pPr>
              <a:spcAft>
                <a:spcPts val="1400"/>
              </a:spcAft>
            </a:pPr>
            <a:r>
              <a:rPr lang="en-US" sz="4400" b="1" dirty="0">
                <a:solidFill>
                  <a:srgbClr val="1C1C1C"/>
                </a:solidFill>
                <a:latin typeface="Georgia"/>
              </a:rPr>
              <a:t>The Lee </a:t>
            </a:r>
            <a:r>
              <a:rPr lang="en-US" sz="4400" b="1" dirty="0" err="1">
                <a:solidFill>
                  <a:srgbClr val="1C1C1C"/>
                </a:solidFill>
                <a:latin typeface="Georgia"/>
              </a:rPr>
              <a:t>AnCheng</a:t>
            </a:r>
            <a:r>
              <a:rPr lang="en-US" sz="4400" b="1" dirty="0">
                <a:solidFill>
                  <a:srgbClr val="1C1C1C"/>
                </a:solidFill>
                <a:latin typeface="Georgia"/>
              </a:rPr>
              <a:t> Curating</a:t>
            </a:r>
          </a:p>
          <a:p>
            <a:pPr>
              <a:spcAft>
                <a:spcPts val="1400"/>
              </a:spcAft>
            </a:pPr>
            <a:r>
              <a:rPr lang="en-US" sz="4400" b="1" dirty="0">
                <a:solidFill>
                  <a:srgbClr val="1C1C1C"/>
                </a:solidFill>
                <a:latin typeface="Georgia"/>
              </a:rPr>
              <a:t>Platform &amp; Exhibition Website</a:t>
            </a:r>
            <a:endParaRPr sz="4400" b="1" i="0" dirty="0">
              <a:solidFill>
                <a:srgbClr val="1C1C1C"/>
              </a:solidFill>
              <a:latin typeface="Georgia"/>
            </a:endParaRPr>
          </a:p>
          <a:p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Bringing Traditional Ink Art to the Global Stage</a:t>
            </a:r>
            <a:endParaRPr b="0" i="1" dirty="0">
              <a:solidFill>
                <a:schemeClr val="tx1">
                  <a:lumMod val="65000"/>
                  <a:lumOff val="35000"/>
                </a:schemeClr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972800" y="5669280"/>
            <a:ext cx="548640" cy="54864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009376" y="5705856"/>
            <a:ext cx="475488" cy="475488"/>
          </a:xfrm>
          <a:prstGeom prst="rect">
            <a:avLst/>
          </a:prstGeom>
          <a:noFill/>
          <a:ln w="127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2635F8-69F6-507D-A305-CA4D89D79B9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957712" y="5680735"/>
            <a:ext cx="550263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65659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1000" b="1" i="0" dirty="0">
                <a:solidFill>
                  <a:srgbClr val="B22222"/>
                </a:solidFill>
                <a:latin typeface="Arial"/>
              </a:rPr>
              <a:t>SECTION 1</a:t>
            </a:r>
            <a:endParaRPr sz="1000" b="1" i="0" dirty="0">
              <a:solidFill>
                <a:srgbClr val="B22222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2800" b="1" i="0" dirty="0">
                <a:solidFill>
                  <a:srgbClr val="1C1C1C"/>
                </a:solidFill>
                <a:latin typeface="Georgia"/>
              </a:rPr>
              <a:t>01 / </a:t>
            </a:r>
            <a:r>
              <a:rPr lang="en-US" sz="2800" b="1" dirty="0">
                <a:solidFill>
                  <a:srgbClr val="1C1C1C"/>
                </a:solidFill>
                <a:latin typeface="Georgia"/>
              </a:rPr>
              <a:t>A Master's Legacy, Dispersed</a:t>
            </a:r>
            <a:endParaRPr sz="2800" b="1" i="0" dirty="0">
              <a:solidFill>
                <a:srgbClr val="1C1C1C"/>
              </a:solidFill>
              <a:latin typeface="Georgi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1270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102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200" b="1" i="0" dirty="0">
                <a:solidFill>
                  <a:srgbClr val="1C1C1C"/>
                </a:solidFill>
                <a:latin typeface="Georgia"/>
              </a:rPr>
              <a:t>Cherished but dispersed</a:t>
            </a:r>
            <a:endParaRPr sz="2200" b="1" i="0" dirty="0">
              <a:solidFill>
                <a:srgbClr val="1C1C1C"/>
              </a:solidFill>
              <a:latin typeface="Georgia"/>
            </a:endParaRPr>
          </a:p>
          <a:p>
            <a:pPr>
              <a:spcAft>
                <a:spcPts val="1400"/>
              </a:spcAft>
            </a:pPr>
            <a:r>
              <a:rPr lang="en-US" sz="1500" dirty="0">
                <a:solidFill>
                  <a:srgbClr val="1C1C1C"/>
                </a:solidFill>
                <a:latin typeface="Arial"/>
              </a:rPr>
              <a:t>Lee An-</a:t>
            </a:r>
            <a:r>
              <a:rPr lang="en-US" sz="1500" dirty="0" err="1">
                <a:solidFill>
                  <a:srgbClr val="1C1C1C"/>
                </a:solidFill>
                <a:latin typeface="Arial"/>
              </a:rPr>
              <a:t>cheng's</a:t>
            </a:r>
            <a:r>
              <a:rPr lang="en-US" sz="1500" dirty="0">
                <a:solidFill>
                  <a:srgbClr val="1C1C1C"/>
                </a:solidFill>
                <a:latin typeface="Arial"/>
              </a:rPr>
              <a:t> (1959-2015) groundbreaking works are currently safeguarded across the private collections of family and friends. While physically safe in the hands of loving custodians, this decentralized ownership creates a logistical wall. </a:t>
            </a:r>
            <a:endParaRPr sz="1400" b="0" i="0" dirty="0">
              <a:solidFill>
                <a:srgbClr val="1C1C1C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247120" y="5943600"/>
            <a:ext cx="411480" cy="41148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283696" y="5980176"/>
            <a:ext cx="338328" cy="338328"/>
          </a:xfrm>
          <a:prstGeom prst="rect">
            <a:avLst/>
          </a:prstGeom>
          <a:noFill/>
          <a:ln w="127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052A94-1227-5E54-B43F-4F2C972C5DF9}"/>
              </a:ext>
            </a:extLst>
          </p:cNvPr>
          <p:cNvSpPr txBox="1"/>
          <p:nvPr/>
        </p:nvSpPr>
        <p:spPr>
          <a:xfrm>
            <a:off x="457200" y="3701627"/>
            <a:ext cx="11277295" cy="102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200" b="1" i="0" dirty="0">
                <a:solidFill>
                  <a:srgbClr val="1C1C1C"/>
                </a:solidFill>
                <a:latin typeface="Georgia"/>
              </a:rPr>
              <a:t>A unified digital legacy</a:t>
            </a:r>
            <a:endParaRPr sz="2200" b="1" i="0" dirty="0">
              <a:solidFill>
                <a:srgbClr val="1C1C1C"/>
              </a:solidFill>
              <a:latin typeface="Georgia"/>
            </a:endParaRPr>
          </a:p>
          <a:p>
            <a:pPr>
              <a:spcAft>
                <a:spcPts val="1400"/>
              </a:spcAft>
            </a:pPr>
            <a:r>
              <a:rPr lang="en-US" sz="1500" dirty="0">
                <a:solidFill>
                  <a:srgbClr val="1C1C1C"/>
                </a:solidFill>
                <a:latin typeface="Arial"/>
              </a:rPr>
              <a:t>Large-scale international curation-such as upcoming initiatives targeting galleries in France-is profoundly complex to organize, track, and execute.</a:t>
            </a:r>
            <a:endParaRPr sz="1400" b="0" i="0" dirty="0">
              <a:solidFill>
                <a:srgbClr val="1C1C1C"/>
              </a:solidFill>
              <a:latin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FF332C-87FF-D2BD-52AB-152670BDA17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82587" y="5980176"/>
            <a:ext cx="376013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0" y="2286000"/>
            <a:ext cx="457200" cy="4572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33856" y="2322576"/>
            <a:ext cx="384048" cy="384048"/>
          </a:xfrm>
          <a:prstGeom prst="rect">
            <a:avLst/>
          </a:prstGeom>
          <a:noFill/>
          <a:ln w="127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100584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 dirty="0">
                <a:solidFill>
                  <a:srgbClr val="B22222"/>
                </a:solidFill>
                <a:latin typeface="Arial"/>
              </a:rPr>
              <a:t>SECTION 01</a:t>
            </a:r>
          </a:p>
          <a:p>
            <a:pPr>
              <a:spcAft>
                <a:spcPts val="800"/>
              </a:spcAft>
            </a:pPr>
            <a:r>
              <a:rPr lang="en-US" sz="3800" b="1" dirty="0">
                <a:solidFill>
                  <a:srgbClr val="FAF9F6"/>
                </a:solidFill>
                <a:latin typeface="Georgia"/>
              </a:rPr>
              <a:t>GOALS TO REACH POSTERITY</a:t>
            </a:r>
            <a:endParaRPr sz="3800" b="1" i="0" dirty="0">
              <a:solidFill>
                <a:srgbClr val="FAF9F6"/>
              </a:solidFill>
              <a:latin typeface="Georgia"/>
            </a:endParaRPr>
          </a:p>
          <a:p>
            <a:r>
              <a:rPr lang="en-US" sz="1400" i="1" dirty="0">
                <a:solidFill>
                  <a:srgbClr val="8C8C8C"/>
                </a:solidFill>
                <a:latin typeface="Arial"/>
              </a:rPr>
              <a:t>Presenting what is the current situation and what we ultimately want to achieve</a:t>
            </a:r>
            <a:endParaRPr sz="1400" b="0" i="1" dirty="0">
              <a:solidFill>
                <a:srgbClr val="8C8C8C"/>
              </a:solid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F63C2F-DF5B-3F17-1B99-6F2715F4749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90940" y="2296048"/>
            <a:ext cx="458553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C6B97-EF35-680B-DF0D-72D296082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17BCF3-77BC-06B6-1CE2-72A7FF7D108B}"/>
              </a:ext>
            </a:extLst>
          </p:cNvPr>
          <p:cNvSpPr/>
          <p:nvPr/>
        </p:nvSpPr>
        <p:spPr>
          <a:xfrm>
            <a:off x="457200" y="1280160"/>
            <a:ext cx="11277295" cy="1270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679814C-C01F-4A72-E5D8-C083C4DD38F9}"/>
              </a:ext>
            </a:extLst>
          </p:cNvPr>
          <p:cNvSpPr/>
          <p:nvPr/>
        </p:nvSpPr>
        <p:spPr>
          <a:xfrm>
            <a:off x="457200" y="1701716"/>
            <a:ext cx="3474720" cy="4041054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>
              <a:spcAft>
                <a:spcPts val="400"/>
              </a:spcAft>
            </a:pPr>
            <a:r>
              <a:rPr lang="en-US" sz="3200" b="1" i="0" dirty="0">
                <a:solidFill>
                  <a:srgbClr val="B22222"/>
                </a:solidFill>
                <a:latin typeface="Georgia"/>
              </a:rPr>
              <a:t>1</a:t>
            </a:r>
            <a:br>
              <a:rPr lang="en-US" sz="3200" b="1" i="0" dirty="0">
                <a:solidFill>
                  <a:srgbClr val="B22222"/>
                </a:solidFill>
                <a:latin typeface="Georgia"/>
              </a:rPr>
            </a:br>
            <a:r>
              <a:rPr lang="en-US" sz="3200" b="1" i="0" dirty="0">
                <a:solidFill>
                  <a:srgbClr val="B22222"/>
                </a:solidFill>
                <a:latin typeface="Georgia"/>
              </a:rPr>
              <a:t>The Vault (backend)</a:t>
            </a:r>
          </a:p>
          <a:p>
            <a:pPr algn="ctr">
              <a:spcAft>
                <a:spcPts val="400"/>
              </a:spcAft>
            </a:pPr>
            <a:endParaRPr sz="3200" b="1" i="0" dirty="0">
              <a:solidFill>
                <a:srgbClr val="B22222"/>
              </a:solidFill>
              <a:latin typeface="Georgia"/>
            </a:endParaRPr>
          </a:p>
          <a:p>
            <a:pPr>
              <a:spcAft>
                <a:spcPts val="800"/>
              </a:spcAft>
            </a:pPr>
            <a:r>
              <a:rPr lang="en-US" sz="1500" b="1" dirty="0">
                <a:solidFill>
                  <a:srgbClr val="1C1C1C"/>
                </a:solidFill>
                <a:latin typeface="Arial"/>
              </a:rPr>
              <a:t>Security</a:t>
            </a:r>
          </a:p>
          <a:p>
            <a:pPr>
              <a:spcAft>
                <a:spcPts val="800"/>
              </a:spcAft>
            </a:pPr>
            <a:r>
              <a:rPr lang="en-US" sz="1500" b="1" dirty="0">
                <a:solidFill>
                  <a:srgbClr val="1C1C1C"/>
                </a:solidFill>
                <a:latin typeface="Arial"/>
              </a:rPr>
              <a:t>Exhaustive Metadata</a:t>
            </a:r>
          </a:p>
          <a:p>
            <a:pPr>
              <a:spcAft>
                <a:spcPts val="800"/>
              </a:spcAft>
            </a:pPr>
            <a:r>
              <a:rPr lang="en-US" sz="1500" b="1" dirty="0">
                <a:solidFill>
                  <a:srgbClr val="1C1C1C"/>
                </a:solidFill>
                <a:latin typeface="Arial"/>
              </a:rPr>
              <a:t>Ownership Tracking</a:t>
            </a:r>
            <a:endParaRPr sz="1500" b="0" i="0" dirty="0">
              <a:solidFill>
                <a:srgbClr val="8C8C8C"/>
              </a:solidFill>
              <a:latin typeface="Arial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5691021-F086-606E-9E8C-FEF18BBB60EC}"/>
              </a:ext>
            </a:extLst>
          </p:cNvPr>
          <p:cNvSpPr/>
          <p:nvPr/>
        </p:nvSpPr>
        <p:spPr>
          <a:xfrm>
            <a:off x="4297680" y="1701716"/>
            <a:ext cx="3474720" cy="4041054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>
              <a:spcAft>
                <a:spcPts val="400"/>
              </a:spcAft>
            </a:pPr>
            <a:r>
              <a:rPr lang="en-US" sz="3200" b="1" i="0" dirty="0">
                <a:solidFill>
                  <a:srgbClr val="B22222"/>
                </a:solidFill>
                <a:latin typeface="Georgia"/>
              </a:rPr>
              <a:t>2</a:t>
            </a:r>
            <a:br>
              <a:rPr lang="en-US" sz="3200" b="1" i="0" dirty="0">
                <a:solidFill>
                  <a:srgbClr val="B22222"/>
                </a:solidFill>
                <a:latin typeface="Georgia"/>
              </a:rPr>
            </a:br>
            <a:r>
              <a:rPr lang="en-US" sz="3200" b="1" i="0" dirty="0">
                <a:solidFill>
                  <a:srgbClr val="B22222"/>
                </a:solidFill>
                <a:latin typeface="Georgia"/>
              </a:rPr>
              <a:t>The Engine</a:t>
            </a:r>
            <a:br>
              <a:rPr lang="en-US" sz="3200" b="1" i="0" dirty="0">
                <a:solidFill>
                  <a:srgbClr val="B22222"/>
                </a:solidFill>
                <a:latin typeface="Georgia"/>
              </a:rPr>
            </a:br>
            <a:r>
              <a:rPr lang="en-US" sz="3200" b="1" i="0" dirty="0">
                <a:solidFill>
                  <a:srgbClr val="B22222"/>
                </a:solidFill>
                <a:latin typeface="Georgia"/>
              </a:rPr>
              <a:t>(curation)</a:t>
            </a:r>
          </a:p>
          <a:p>
            <a:pPr algn="ctr">
              <a:spcAft>
                <a:spcPts val="400"/>
              </a:spcAft>
            </a:pPr>
            <a:endParaRPr sz="3200" b="1" i="0" dirty="0">
              <a:solidFill>
                <a:srgbClr val="B22222"/>
              </a:solidFill>
              <a:latin typeface="Georgia"/>
            </a:endParaRPr>
          </a:p>
          <a:p>
            <a:pPr>
              <a:spcAft>
                <a:spcPts val="800"/>
              </a:spcAft>
            </a:pPr>
            <a:r>
              <a:rPr lang="en-US" sz="1500" b="1" dirty="0">
                <a:solidFill>
                  <a:srgbClr val="1C1C1C"/>
                </a:solidFill>
                <a:latin typeface="Arial"/>
              </a:rPr>
              <a:t>Dynamic Narratives</a:t>
            </a:r>
          </a:p>
          <a:p>
            <a:pPr>
              <a:spcAft>
                <a:spcPts val="800"/>
              </a:spcAft>
            </a:pPr>
            <a:r>
              <a:rPr lang="en-US" sz="1500" b="1" dirty="0">
                <a:solidFill>
                  <a:srgbClr val="1C1C1C"/>
                </a:solidFill>
                <a:latin typeface="Arial"/>
              </a:rPr>
              <a:t>Thematic Groupings</a:t>
            </a:r>
          </a:p>
          <a:p>
            <a:pPr>
              <a:spcAft>
                <a:spcPts val="800"/>
              </a:spcAft>
            </a:pPr>
            <a:r>
              <a:rPr lang="en-US" sz="1500" b="1" dirty="0">
                <a:solidFill>
                  <a:srgbClr val="1C1C1C"/>
                </a:solidFill>
                <a:latin typeface="Arial"/>
              </a:rPr>
              <a:t>Taxonomy Filtering</a:t>
            </a:r>
            <a:endParaRPr sz="1500" b="0" i="0" dirty="0">
              <a:solidFill>
                <a:srgbClr val="8C8C8C"/>
              </a:solidFill>
              <a:latin typeface="Arial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424B555-3D8B-D3A5-E3A8-0B86E357A9B5}"/>
              </a:ext>
            </a:extLst>
          </p:cNvPr>
          <p:cNvSpPr/>
          <p:nvPr/>
        </p:nvSpPr>
        <p:spPr>
          <a:xfrm>
            <a:off x="8138160" y="1701716"/>
            <a:ext cx="3474720" cy="4041054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Ins="274320" rtlCol="0" anchor="ctr"/>
          <a:lstStyle/>
          <a:p>
            <a:pPr algn="ctr">
              <a:spcAft>
                <a:spcPts val="400"/>
              </a:spcAft>
            </a:pPr>
            <a:r>
              <a:rPr lang="en-US" sz="3200" b="1" i="0" dirty="0">
                <a:solidFill>
                  <a:srgbClr val="B22222"/>
                </a:solidFill>
                <a:latin typeface="Georgia"/>
              </a:rPr>
              <a:t>3</a:t>
            </a:r>
            <a:br>
              <a:rPr lang="en-US" sz="3200" b="1" i="0" dirty="0">
                <a:solidFill>
                  <a:srgbClr val="B22222"/>
                </a:solidFill>
                <a:latin typeface="Georgia"/>
              </a:rPr>
            </a:br>
            <a:r>
              <a:rPr lang="en-US" sz="3200" b="1" i="0" dirty="0">
                <a:solidFill>
                  <a:srgbClr val="B22222"/>
                </a:solidFill>
                <a:latin typeface="Georgia"/>
              </a:rPr>
              <a:t>The Gallery</a:t>
            </a:r>
            <a:br>
              <a:rPr lang="en-US" sz="3200" b="1" i="0" dirty="0">
                <a:solidFill>
                  <a:srgbClr val="B22222"/>
                </a:solidFill>
                <a:latin typeface="Georgia"/>
              </a:rPr>
            </a:br>
            <a:r>
              <a:rPr lang="en-US" sz="3200" b="1" i="0" dirty="0">
                <a:solidFill>
                  <a:srgbClr val="B22222"/>
                </a:solidFill>
                <a:latin typeface="Georgia"/>
              </a:rPr>
              <a:t>(frontend</a:t>
            </a:r>
          </a:p>
          <a:p>
            <a:pPr algn="ctr">
              <a:spcAft>
                <a:spcPts val="400"/>
              </a:spcAft>
            </a:pPr>
            <a:endParaRPr sz="3200" b="1" i="0" dirty="0">
              <a:solidFill>
                <a:srgbClr val="B22222"/>
              </a:solidFill>
              <a:latin typeface="Georgia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500" b="1" dirty="0">
                <a:solidFill>
                  <a:srgbClr val="1C1C1C"/>
                </a:solidFill>
                <a:latin typeface="Arial"/>
              </a:rPr>
              <a:t>Global Access</a:t>
            </a:r>
            <a:br>
              <a:rPr lang="en-US" sz="1500" b="1" dirty="0">
                <a:solidFill>
                  <a:srgbClr val="1C1C1C"/>
                </a:solidFill>
                <a:latin typeface="Arial"/>
              </a:rPr>
            </a:br>
            <a:r>
              <a:rPr lang="en-US" sz="1500" b="1" dirty="0">
                <a:solidFill>
                  <a:srgbClr val="1C1C1C"/>
                </a:solidFill>
                <a:latin typeface="Arial"/>
              </a:rPr>
              <a:t>Showcase Control,</a:t>
            </a:r>
            <a:br>
              <a:rPr lang="en-US" sz="1500" b="1" dirty="0">
                <a:solidFill>
                  <a:srgbClr val="1C1C1C"/>
                </a:solidFill>
                <a:latin typeface="Arial"/>
              </a:rPr>
            </a:br>
            <a:r>
              <a:rPr lang="en-US" sz="1500" b="1" dirty="0">
                <a:solidFill>
                  <a:srgbClr val="1C1C1C"/>
                </a:solidFill>
                <a:latin typeface="Arial"/>
              </a:rPr>
              <a:t>Dual-Language Interface.</a:t>
            </a:r>
            <a:endParaRPr sz="1500" b="0" i="0" dirty="0">
              <a:solidFill>
                <a:srgbClr val="8C8C8C"/>
              </a:solidFill>
              <a:latin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22B627-3F96-DBAF-2D25-209047DC3D04}"/>
              </a:ext>
            </a:extLst>
          </p:cNvPr>
          <p:cNvSpPr/>
          <p:nvPr/>
        </p:nvSpPr>
        <p:spPr>
          <a:xfrm>
            <a:off x="11247120" y="5943600"/>
            <a:ext cx="411480" cy="41148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9E685A-203F-4C88-9753-FBBFDBAEE9D3}"/>
              </a:ext>
            </a:extLst>
          </p:cNvPr>
          <p:cNvSpPr/>
          <p:nvPr/>
        </p:nvSpPr>
        <p:spPr>
          <a:xfrm>
            <a:off x="11283696" y="5980176"/>
            <a:ext cx="338328" cy="338328"/>
          </a:xfrm>
          <a:prstGeom prst="rect">
            <a:avLst/>
          </a:prstGeom>
          <a:noFill/>
          <a:ln w="127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C80C41-A10E-4D73-7754-95864A4C0B99}"/>
              </a:ext>
            </a:extLst>
          </p:cNvPr>
          <p:cNvSpPr txBox="1"/>
          <p:nvPr/>
        </p:nvSpPr>
        <p:spPr>
          <a:xfrm>
            <a:off x="457200" y="365760"/>
            <a:ext cx="11277295" cy="65659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1000" b="1" i="0" dirty="0">
                <a:solidFill>
                  <a:srgbClr val="B22222"/>
                </a:solidFill>
                <a:latin typeface="Arial"/>
              </a:rPr>
              <a:t>SECTION 1</a:t>
            </a:r>
            <a:endParaRPr sz="1000" b="1" i="0" dirty="0">
              <a:solidFill>
                <a:srgbClr val="B22222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2800" b="1" i="0" dirty="0">
                <a:solidFill>
                  <a:srgbClr val="1C1C1C"/>
                </a:solidFill>
                <a:latin typeface="Georgia"/>
              </a:rPr>
              <a:t>0</a:t>
            </a:r>
            <a:r>
              <a:rPr lang="en-US" sz="2800" b="1" dirty="0">
                <a:solidFill>
                  <a:srgbClr val="1C1C1C"/>
                </a:solidFill>
                <a:latin typeface="Georgia"/>
              </a:rPr>
              <a:t>1</a:t>
            </a:r>
            <a:r>
              <a:rPr sz="2800" b="1" i="0" dirty="0">
                <a:solidFill>
                  <a:srgbClr val="1C1C1C"/>
                </a:solidFill>
                <a:latin typeface="Georgia"/>
              </a:rPr>
              <a:t> / </a:t>
            </a:r>
            <a:r>
              <a:rPr lang="en-US" sz="2800" b="1" dirty="0">
                <a:solidFill>
                  <a:srgbClr val="1C1C1C"/>
                </a:solidFill>
                <a:latin typeface="Georgia"/>
              </a:rPr>
              <a:t>Architecture of curation</a:t>
            </a:r>
            <a:endParaRPr sz="2800" b="1" i="0" dirty="0">
              <a:solidFill>
                <a:srgbClr val="1C1C1C"/>
              </a:solidFill>
              <a:latin typeface="Georgi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5C9E91-35F7-19D4-794C-E7843867E809}"/>
              </a:ext>
            </a:extLst>
          </p:cNvPr>
          <p:cNvSpPr txBox="1"/>
          <p:nvPr/>
        </p:nvSpPr>
        <p:spPr>
          <a:xfrm>
            <a:off x="569976" y="6056894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lang="en-US" sz="1400" b="0" i="1" dirty="0">
                <a:solidFill>
                  <a:srgbClr val="8C8C8C"/>
                </a:solidFill>
                <a:latin typeface="Arial"/>
              </a:rPr>
              <a:t>Each block will be able to leverage AI to improve each steps of the journey, through creativity, venue scooting, match making.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8BE669-C5DD-C5E9-B1FC-19A4549B91C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45903" y="5934958"/>
            <a:ext cx="412697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775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EF8C7-87F9-4A2F-E4F9-B4C192E12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E01271C-0E8C-743C-BE94-B736DC2A9E53}"/>
              </a:ext>
            </a:extLst>
          </p:cNvPr>
          <p:cNvSpPr/>
          <p:nvPr/>
        </p:nvSpPr>
        <p:spPr>
          <a:xfrm>
            <a:off x="756131" y="1768083"/>
            <a:ext cx="3955354" cy="3555145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1C2A9-89A3-43BE-0D74-DDA8FEE7C09B}"/>
              </a:ext>
            </a:extLst>
          </p:cNvPr>
          <p:cNvSpPr txBox="1"/>
          <p:nvPr/>
        </p:nvSpPr>
        <p:spPr>
          <a:xfrm>
            <a:off x="457200" y="365760"/>
            <a:ext cx="11277295" cy="65659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1000" b="1" i="0" dirty="0">
                <a:solidFill>
                  <a:srgbClr val="B22222"/>
                </a:solidFill>
                <a:latin typeface="Arial"/>
              </a:rPr>
              <a:t>SECTION 1</a:t>
            </a:r>
            <a:endParaRPr sz="1000" b="1" i="0" dirty="0">
              <a:solidFill>
                <a:srgbClr val="B22222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2800" b="1" i="0" dirty="0">
                <a:solidFill>
                  <a:srgbClr val="1C1C1C"/>
                </a:solidFill>
                <a:latin typeface="Georgia"/>
              </a:rPr>
              <a:t>0</a:t>
            </a:r>
            <a:r>
              <a:rPr lang="en-US" sz="2800" b="1" dirty="0">
                <a:solidFill>
                  <a:srgbClr val="1C1C1C"/>
                </a:solidFill>
                <a:latin typeface="Georgia"/>
              </a:rPr>
              <a:t>2</a:t>
            </a:r>
            <a:r>
              <a:rPr sz="2800" b="1" i="0" dirty="0">
                <a:solidFill>
                  <a:srgbClr val="1C1C1C"/>
                </a:solidFill>
                <a:latin typeface="Georgia"/>
              </a:rPr>
              <a:t> / </a:t>
            </a:r>
            <a:r>
              <a:rPr lang="en-US" sz="2800" b="1" dirty="0">
                <a:solidFill>
                  <a:srgbClr val="1C1C1C"/>
                </a:solidFill>
                <a:latin typeface="Georgia"/>
              </a:rPr>
              <a:t>Private ownership &amp; Transit security</a:t>
            </a:r>
            <a:endParaRPr sz="2800" b="1" i="0" dirty="0">
              <a:solidFill>
                <a:srgbClr val="1C1C1C"/>
              </a:solidFill>
              <a:latin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87C3BC-98BC-3E39-9D9A-F8C3B3BF50EA}"/>
              </a:ext>
            </a:extLst>
          </p:cNvPr>
          <p:cNvSpPr/>
          <p:nvPr/>
        </p:nvSpPr>
        <p:spPr>
          <a:xfrm>
            <a:off x="457200" y="1280160"/>
            <a:ext cx="11277295" cy="1270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BDCA0A-BF18-FAA2-A3F3-2351ED9D48E2}"/>
              </a:ext>
            </a:extLst>
          </p:cNvPr>
          <p:cNvSpPr txBox="1"/>
          <p:nvPr/>
        </p:nvSpPr>
        <p:spPr>
          <a:xfrm>
            <a:off x="5517397" y="1645920"/>
            <a:ext cx="6217098" cy="102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200" b="1" i="0" dirty="0">
                <a:solidFill>
                  <a:srgbClr val="1C1C1C"/>
                </a:solidFill>
                <a:latin typeface="Georgia"/>
              </a:rPr>
              <a:t>Location tracking</a:t>
            </a:r>
            <a:endParaRPr sz="2200" b="1" i="0" dirty="0">
              <a:solidFill>
                <a:srgbClr val="1C1C1C"/>
              </a:solidFill>
              <a:latin typeface="Georgia"/>
            </a:endParaRPr>
          </a:p>
          <a:p>
            <a:pPr>
              <a:spcAft>
                <a:spcPts val="1400"/>
              </a:spcAft>
            </a:pPr>
            <a:r>
              <a:rPr lang="en-US" sz="1500" dirty="0">
                <a:solidFill>
                  <a:srgbClr val="1C1C1C"/>
                </a:solidFill>
                <a:latin typeface="Arial"/>
              </a:rPr>
              <a:t>Real-time, private logging of exactly which family member or friend currently holds which physical piece.</a:t>
            </a:r>
            <a:endParaRPr sz="1400" b="0" i="0" dirty="0">
              <a:solidFill>
                <a:srgbClr val="1C1C1C"/>
              </a:solidFill>
              <a:latin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F6CE63-4492-BE97-A72B-AFD426C7A5F1}"/>
              </a:ext>
            </a:extLst>
          </p:cNvPr>
          <p:cNvSpPr/>
          <p:nvPr/>
        </p:nvSpPr>
        <p:spPr>
          <a:xfrm>
            <a:off x="11247120" y="5943600"/>
            <a:ext cx="411480" cy="41148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EC19FB-1EA5-9745-FC83-B730E6B7153F}"/>
              </a:ext>
            </a:extLst>
          </p:cNvPr>
          <p:cNvSpPr/>
          <p:nvPr/>
        </p:nvSpPr>
        <p:spPr>
          <a:xfrm>
            <a:off x="11283696" y="5980176"/>
            <a:ext cx="338328" cy="338328"/>
          </a:xfrm>
          <a:prstGeom prst="rect">
            <a:avLst/>
          </a:prstGeom>
          <a:noFill/>
          <a:ln w="127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5E8BB4-AE05-C146-E706-FEC4BCAE3AD0}"/>
              </a:ext>
            </a:extLst>
          </p:cNvPr>
          <p:cNvSpPr txBox="1"/>
          <p:nvPr/>
        </p:nvSpPr>
        <p:spPr>
          <a:xfrm>
            <a:off x="5517396" y="4212023"/>
            <a:ext cx="6217098" cy="102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200" b="1" i="0" dirty="0">
                <a:solidFill>
                  <a:srgbClr val="1C1C1C"/>
                </a:solidFill>
                <a:latin typeface="Georgia"/>
              </a:rPr>
              <a:t>Privacy first</a:t>
            </a:r>
            <a:endParaRPr sz="2200" b="1" i="0" dirty="0">
              <a:solidFill>
                <a:srgbClr val="1C1C1C"/>
              </a:solidFill>
              <a:latin typeface="Georgia"/>
            </a:endParaRPr>
          </a:p>
          <a:p>
            <a:pPr>
              <a:spcAft>
                <a:spcPts val="1400"/>
              </a:spcAft>
            </a:pPr>
            <a:r>
              <a:rPr lang="en-US" sz="1500" dirty="0">
                <a:solidFill>
                  <a:srgbClr val="1C1C1C"/>
                </a:solidFill>
                <a:latin typeface="Arial"/>
              </a:rPr>
              <a:t>Custodian contact details and private ownership data remain strictly confidential and are completely hidden from the public-facing site.</a:t>
            </a:r>
            <a:endParaRPr sz="1400" b="0" i="0" dirty="0">
              <a:solidFill>
                <a:srgbClr val="1C1C1C"/>
              </a:solidFill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7ABCB0-CB43-EF37-E4DD-433356D88185}"/>
              </a:ext>
            </a:extLst>
          </p:cNvPr>
          <p:cNvSpPr txBox="1"/>
          <p:nvPr/>
        </p:nvSpPr>
        <p:spPr>
          <a:xfrm>
            <a:off x="5517396" y="2928971"/>
            <a:ext cx="6217098" cy="102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200" b="1" dirty="0">
                <a:solidFill>
                  <a:srgbClr val="1C1C1C"/>
                </a:solidFill>
                <a:latin typeface="Georgia"/>
              </a:rPr>
              <a:t>Transit lock</a:t>
            </a:r>
          </a:p>
          <a:p>
            <a:pPr>
              <a:spcAft>
                <a:spcPts val="1000"/>
              </a:spcAft>
            </a:pPr>
            <a:r>
              <a:rPr lang="en-US" sz="1500" dirty="0">
                <a:solidFill>
                  <a:srgbClr val="1C1C1C"/>
                </a:solidFill>
                <a:latin typeface="Arial"/>
              </a:rPr>
              <a:t>Secure status tracking required when artworks are shipped abroad or loaned to external galleries.</a:t>
            </a:r>
            <a:endParaRPr sz="1400" b="0" i="0" dirty="0">
              <a:solidFill>
                <a:srgbClr val="1C1C1C"/>
              </a:solidFill>
              <a:latin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3E4670-72BA-04B6-1AD1-1BDB7F0C32B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7645" y="1925325"/>
            <a:ext cx="1711307" cy="15110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789F94C-7E71-271A-16F6-D2FEA3F5092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0519" y="3721731"/>
            <a:ext cx="1566960" cy="14024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D530DBD-8328-96D3-296C-00E921E3188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19060" y="3703820"/>
            <a:ext cx="1566960" cy="137814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371C19-9539-F315-8871-E6F1054D984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19060" y="1925325"/>
            <a:ext cx="1566960" cy="149122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3180B49-A8F7-640D-E71F-83DDAFA0D8F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45903" y="5934958"/>
            <a:ext cx="412697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485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1B072-70CC-4E18-2F21-A93E26E00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0B4BE8-D40B-01FC-9763-E3AB84CAF001}"/>
              </a:ext>
            </a:extLst>
          </p:cNvPr>
          <p:cNvSpPr txBox="1"/>
          <p:nvPr/>
        </p:nvSpPr>
        <p:spPr>
          <a:xfrm>
            <a:off x="457200" y="365760"/>
            <a:ext cx="11277295" cy="65659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1000" b="1" i="0" dirty="0">
                <a:solidFill>
                  <a:srgbClr val="B22222"/>
                </a:solidFill>
                <a:latin typeface="Arial"/>
              </a:rPr>
              <a:t>SECTION 1</a:t>
            </a:r>
            <a:endParaRPr sz="1000" b="1" i="0" dirty="0">
              <a:solidFill>
                <a:srgbClr val="B22222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2800" b="1" i="0" dirty="0">
                <a:solidFill>
                  <a:srgbClr val="1C1C1C"/>
                </a:solidFill>
                <a:latin typeface="Georgia"/>
              </a:rPr>
              <a:t>0</a:t>
            </a:r>
            <a:r>
              <a:rPr lang="en-US" sz="2800" b="1" i="0" dirty="0">
                <a:solidFill>
                  <a:srgbClr val="1C1C1C"/>
                </a:solidFill>
                <a:latin typeface="Georgia"/>
              </a:rPr>
              <a:t>3</a:t>
            </a:r>
            <a:r>
              <a:rPr sz="2800" b="1" i="0" dirty="0">
                <a:solidFill>
                  <a:srgbClr val="1C1C1C"/>
                </a:solidFill>
                <a:latin typeface="Georgia"/>
              </a:rPr>
              <a:t> / </a:t>
            </a:r>
            <a:r>
              <a:rPr lang="en-US" sz="2800" b="1" dirty="0">
                <a:solidFill>
                  <a:srgbClr val="1C1C1C"/>
                </a:solidFill>
                <a:latin typeface="Georgia"/>
              </a:rPr>
              <a:t>Curatorial filtering parameters metadata</a:t>
            </a:r>
            <a:endParaRPr sz="2800" b="1" i="0" dirty="0">
              <a:solidFill>
                <a:srgbClr val="1C1C1C"/>
              </a:solidFill>
              <a:latin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E56614-9545-2D25-9374-13EAE1E7DF14}"/>
              </a:ext>
            </a:extLst>
          </p:cNvPr>
          <p:cNvSpPr/>
          <p:nvPr/>
        </p:nvSpPr>
        <p:spPr>
          <a:xfrm>
            <a:off x="457200" y="1280160"/>
            <a:ext cx="11277295" cy="1270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913B89-7838-B928-8C23-1194AB1CBEAF}"/>
              </a:ext>
            </a:extLst>
          </p:cNvPr>
          <p:cNvSpPr/>
          <p:nvPr/>
        </p:nvSpPr>
        <p:spPr>
          <a:xfrm>
            <a:off x="11247120" y="5943600"/>
            <a:ext cx="411480" cy="41148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825AAF-E6F9-2864-F251-424DF8539A68}"/>
              </a:ext>
            </a:extLst>
          </p:cNvPr>
          <p:cNvSpPr/>
          <p:nvPr/>
        </p:nvSpPr>
        <p:spPr>
          <a:xfrm>
            <a:off x="11283696" y="5980176"/>
            <a:ext cx="338328" cy="338328"/>
          </a:xfrm>
          <a:prstGeom prst="rect">
            <a:avLst/>
          </a:prstGeom>
          <a:noFill/>
          <a:ln w="127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841CE42-EE0B-7D42-C00D-B9EF08203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905484"/>
              </p:ext>
            </p:extLst>
          </p:nvPr>
        </p:nvGraphicFramePr>
        <p:xfrm>
          <a:off x="457200" y="1645920"/>
          <a:ext cx="11277295" cy="35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7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7644"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rgbClr val="FAF9F6"/>
                          </a:solidFill>
                          <a:latin typeface="Arial"/>
                        </a:rPr>
                        <a:t>ERA</a:t>
                      </a:r>
                      <a:endParaRPr sz="1500" b="1" i="0" dirty="0">
                        <a:solidFill>
                          <a:srgbClr val="FAF9F6"/>
                        </a:solidFill>
                        <a:latin typeface="Arial"/>
                      </a:endParaRPr>
                    </a:p>
                  </a:txBody>
                  <a:tcPr marL="127000" marR="127000" marT="101600" marB="10160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rgbClr val="FAF9F6"/>
                          </a:solidFill>
                          <a:latin typeface="Arial"/>
                        </a:rPr>
                        <a:t>TECHNIQUE</a:t>
                      </a:r>
                      <a:endParaRPr sz="1500" b="1" i="0" dirty="0">
                        <a:solidFill>
                          <a:srgbClr val="FAF9F6"/>
                        </a:solidFill>
                        <a:latin typeface="Arial"/>
                      </a:endParaRPr>
                    </a:p>
                  </a:txBody>
                  <a:tcPr marL="127000" marR="127000" marT="101600" marB="10160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rgbClr val="FAF9F6"/>
                          </a:solidFill>
                          <a:latin typeface="Arial"/>
                        </a:rPr>
                        <a:t>MATERIAL</a:t>
                      </a:r>
                      <a:endParaRPr sz="1500" b="1" i="0" dirty="0">
                        <a:solidFill>
                          <a:srgbClr val="FAF9F6"/>
                        </a:solidFill>
                        <a:latin typeface="Arial"/>
                      </a:endParaRPr>
                    </a:p>
                  </a:txBody>
                  <a:tcPr marL="127000" marR="127000" marT="101600" marB="101600"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solidFill>
                            <a:srgbClr val="FAF9F6"/>
                          </a:solidFill>
                          <a:latin typeface="Arial"/>
                        </a:rPr>
                        <a:t>MOOD / THEME</a:t>
                      </a:r>
                      <a:endParaRPr sz="1500" b="1" i="0" dirty="0">
                        <a:solidFill>
                          <a:srgbClr val="FAF9F6"/>
                        </a:solidFill>
                        <a:latin typeface="Arial"/>
                      </a:endParaRPr>
                    </a:p>
                  </a:txBody>
                  <a:tcPr marL="127000" marR="127000" marT="101600" marB="101600"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644"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rgbClr val="1C1C1C"/>
                          </a:solidFill>
                          <a:latin typeface="Arial"/>
                        </a:rPr>
                        <a:t>Early explorations 1979</a:t>
                      </a:r>
                      <a:endParaRPr sz="1500" b="0" i="0" dirty="0">
                        <a:solidFill>
                          <a:srgbClr val="1C1C1C"/>
                        </a:solidFill>
                        <a:latin typeface="Arial"/>
                      </a:endParaRPr>
                    </a:p>
                  </a:txBody>
                  <a:tcPr marL="127000" marR="127000" marT="101600" marB="1016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rgbClr val="1C1C1C"/>
                          </a:solidFill>
                          <a:latin typeface="Arial"/>
                        </a:rPr>
                        <a:t>Fluid wash blending</a:t>
                      </a:r>
                      <a:endParaRPr sz="1500" b="0" i="0" dirty="0">
                        <a:solidFill>
                          <a:srgbClr val="1C1C1C"/>
                        </a:solidFill>
                        <a:latin typeface="Arial"/>
                      </a:endParaRPr>
                    </a:p>
                  </a:txBody>
                  <a:tcPr marL="127000" marR="127000" marT="101600" marB="1016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rgbClr val="1C1C1C"/>
                          </a:solidFill>
                          <a:latin typeface="Arial"/>
                        </a:rPr>
                        <a:t>Single layer Xuan paper</a:t>
                      </a:r>
                      <a:endParaRPr sz="1500" b="0" i="0" dirty="0">
                        <a:solidFill>
                          <a:srgbClr val="1C1C1C"/>
                        </a:solidFill>
                        <a:latin typeface="Arial"/>
                      </a:endParaRPr>
                    </a:p>
                  </a:txBody>
                  <a:tcPr marL="127000" marR="127000" marT="101600" marB="1016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rgbClr val="1C1C1C"/>
                          </a:solidFill>
                          <a:latin typeface="Arial"/>
                        </a:rPr>
                        <a:t>Figurative landscape</a:t>
                      </a:r>
                      <a:endParaRPr sz="1500" b="0" i="0" dirty="0">
                        <a:solidFill>
                          <a:srgbClr val="1C1C1C"/>
                        </a:solidFill>
                        <a:latin typeface="Arial"/>
                      </a:endParaRPr>
                    </a:p>
                  </a:txBody>
                  <a:tcPr marL="127000" marR="127000" marT="101600" marB="1016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644"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rgbClr val="1C1C1C"/>
                          </a:solidFill>
                          <a:latin typeface="Arial"/>
                        </a:rPr>
                        <a:t>The Keelung period</a:t>
                      </a:r>
                      <a:endParaRPr sz="1500" b="0" i="0" dirty="0">
                        <a:solidFill>
                          <a:srgbClr val="1C1C1C"/>
                        </a:solidFill>
                        <a:latin typeface="Arial"/>
                      </a:endParaRPr>
                    </a:p>
                  </a:txBody>
                  <a:tcPr marL="127000" marR="127000" marT="101600" marB="1016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rgbClr val="1C1C1C"/>
                          </a:solidFill>
                          <a:latin typeface="Arial"/>
                        </a:rPr>
                        <a:t>Heavy ink layering</a:t>
                      </a:r>
                      <a:endParaRPr sz="1500" b="0" i="0" dirty="0">
                        <a:solidFill>
                          <a:srgbClr val="1C1C1C"/>
                        </a:solidFill>
                        <a:latin typeface="Arial"/>
                      </a:endParaRPr>
                    </a:p>
                  </a:txBody>
                  <a:tcPr marL="127000" marR="127000" marT="101600" marB="1016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rgbClr val="1C1C1C"/>
                          </a:solidFill>
                          <a:latin typeface="Arial"/>
                        </a:rPr>
                        <a:t>Texture Korean Hanji</a:t>
                      </a:r>
                      <a:endParaRPr sz="1500" b="0" i="0" dirty="0">
                        <a:solidFill>
                          <a:srgbClr val="1C1C1C"/>
                        </a:solidFill>
                        <a:latin typeface="Arial"/>
                      </a:endParaRPr>
                    </a:p>
                  </a:txBody>
                  <a:tcPr marL="127000" marR="127000" marT="101600" marB="1016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rgbClr val="1C1C1C"/>
                          </a:solidFill>
                          <a:latin typeface="Arial"/>
                        </a:rPr>
                        <a:t>Abstract topography</a:t>
                      </a:r>
                      <a:endParaRPr sz="1500" b="0" i="0" dirty="0">
                        <a:solidFill>
                          <a:srgbClr val="1C1C1C"/>
                        </a:solidFill>
                        <a:latin typeface="Arial"/>
                      </a:endParaRPr>
                    </a:p>
                  </a:txBody>
                  <a:tcPr marL="127000" marR="127000" marT="101600" marB="1016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7644"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rgbClr val="1C1C1C"/>
                          </a:solidFill>
                          <a:latin typeface="Arial"/>
                        </a:rPr>
                        <a:t>Mountain seclusion 2000</a:t>
                      </a:r>
                      <a:endParaRPr sz="1500" b="0" i="0" dirty="0">
                        <a:solidFill>
                          <a:srgbClr val="1C1C1C"/>
                        </a:solidFill>
                        <a:latin typeface="Arial"/>
                      </a:endParaRPr>
                    </a:p>
                  </a:txBody>
                  <a:tcPr marL="127000" marR="127000" marT="101600" marB="1016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rgbClr val="1C1C1C"/>
                          </a:solidFill>
                          <a:latin typeface="Arial"/>
                        </a:rPr>
                        <a:t>Flying white</a:t>
                      </a:r>
                      <a:endParaRPr sz="1500" b="0" i="0" dirty="0">
                        <a:solidFill>
                          <a:srgbClr val="1C1C1C"/>
                        </a:solidFill>
                        <a:latin typeface="Arial"/>
                      </a:endParaRPr>
                    </a:p>
                  </a:txBody>
                  <a:tcPr marL="127000" marR="127000" marT="101600" marB="1016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500" b="0" i="0" dirty="0">
                        <a:solidFill>
                          <a:srgbClr val="1C1C1C"/>
                        </a:solidFill>
                        <a:latin typeface="Arial"/>
                      </a:endParaRPr>
                    </a:p>
                  </a:txBody>
                  <a:tcPr marL="127000" marR="127000" marT="101600" marB="1016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rgbClr val="1C1C1C"/>
                          </a:solidFill>
                          <a:latin typeface="Arial"/>
                        </a:rPr>
                        <a:t>Internal mental imagery</a:t>
                      </a:r>
                      <a:endParaRPr sz="1500" b="0" i="0" dirty="0">
                        <a:solidFill>
                          <a:srgbClr val="1C1C1C"/>
                        </a:solidFill>
                        <a:latin typeface="Arial"/>
                      </a:endParaRPr>
                    </a:p>
                  </a:txBody>
                  <a:tcPr marL="127000" marR="127000" marT="101600" marB="10160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7644"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rgbClr val="1C1C1C"/>
                          </a:solidFill>
                          <a:latin typeface="Arial"/>
                        </a:rPr>
                        <a:t>The </a:t>
                      </a:r>
                      <a:r>
                        <a:rPr lang="en-US" sz="1500" b="0" i="0" dirty="0" err="1">
                          <a:solidFill>
                            <a:srgbClr val="1C1C1C"/>
                          </a:solidFill>
                          <a:latin typeface="Arial"/>
                        </a:rPr>
                        <a:t>Kaoshiung</a:t>
                      </a:r>
                      <a:r>
                        <a:rPr lang="en-US" sz="1500" b="0" i="0" dirty="0">
                          <a:solidFill>
                            <a:srgbClr val="1C1C1C"/>
                          </a:solidFill>
                          <a:latin typeface="Arial"/>
                        </a:rPr>
                        <a:t> period</a:t>
                      </a:r>
                      <a:endParaRPr sz="1500" b="0" i="0" dirty="0">
                        <a:solidFill>
                          <a:srgbClr val="1C1C1C"/>
                        </a:solidFill>
                        <a:latin typeface="Arial"/>
                      </a:endParaRPr>
                    </a:p>
                  </a:txBody>
                  <a:tcPr marL="127000" marR="127000" marT="101600" marB="1016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solidFill>
                            <a:srgbClr val="1C1C1C"/>
                          </a:solidFill>
                          <a:latin typeface="Arial"/>
                        </a:rPr>
                        <a:t>Flat vs. calligraphic brush</a:t>
                      </a:r>
                      <a:endParaRPr sz="1500" b="0" i="0" dirty="0">
                        <a:solidFill>
                          <a:srgbClr val="1C1C1C"/>
                        </a:solidFill>
                        <a:latin typeface="Arial"/>
                      </a:endParaRPr>
                    </a:p>
                  </a:txBody>
                  <a:tcPr marL="127000" marR="127000" marT="101600" marB="1016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500" b="0" i="0" dirty="0">
                        <a:solidFill>
                          <a:srgbClr val="1C1C1C"/>
                        </a:solidFill>
                        <a:latin typeface="Arial"/>
                      </a:endParaRPr>
                    </a:p>
                  </a:txBody>
                  <a:tcPr marL="127000" marR="127000" marT="101600" marB="101600">
                    <a:noFill/>
                  </a:tcPr>
                </a:tc>
                <a:tc>
                  <a:txBody>
                    <a:bodyPr/>
                    <a:lstStyle/>
                    <a:p>
                      <a:endParaRPr sz="1500" b="0" i="0" dirty="0">
                        <a:solidFill>
                          <a:srgbClr val="1C1C1C"/>
                        </a:solidFill>
                        <a:latin typeface="Arial"/>
                      </a:endParaRPr>
                    </a:p>
                  </a:txBody>
                  <a:tcPr marL="127000" marR="127000" marT="101600" marB="1016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F8678FC-490D-6078-78A4-07DACC61257D}"/>
              </a:ext>
            </a:extLst>
          </p:cNvPr>
          <p:cNvSpPr txBox="1"/>
          <p:nvPr/>
        </p:nvSpPr>
        <p:spPr>
          <a:xfrm>
            <a:off x="472697" y="5626120"/>
            <a:ext cx="81908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lang="en-US" sz="1400" b="0" i="1" dirty="0">
                <a:solidFill>
                  <a:srgbClr val="8C8C8C"/>
                </a:solidFill>
                <a:latin typeface="Arial"/>
              </a:rPr>
              <a:t>These are just an example of few parameters we will be using for the curating work.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E994D4-CA6D-663F-5F09-4B0054EBE6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45903" y="5934958"/>
            <a:ext cx="412697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753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B8075-47C6-50BA-B964-BD459276C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9C9779-2B37-C820-756B-D16F01B81069}"/>
              </a:ext>
            </a:extLst>
          </p:cNvPr>
          <p:cNvSpPr txBox="1"/>
          <p:nvPr/>
        </p:nvSpPr>
        <p:spPr>
          <a:xfrm>
            <a:off x="457200" y="365760"/>
            <a:ext cx="11277295" cy="65659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1000" b="1" i="0" dirty="0">
                <a:solidFill>
                  <a:srgbClr val="B22222"/>
                </a:solidFill>
                <a:latin typeface="Arial"/>
              </a:rPr>
              <a:t>SECTION 1</a:t>
            </a:r>
            <a:endParaRPr sz="1000" b="1" i="0" dirty="0">
              <a:solidFill>
                <a:srgbClr val="B22222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2800" b="1" i="0" dirty="0">
                <a:solidFill>
                  <a:srgbClr val="1C1C1C"/>
                </a:solidFill>
                <a:latin typeface="Georgia"/>
              </a:rPr>
              <a:t>0</a:t>
            </a:r>
            <a:r>
              <a:rPr lang="en-US" sz="2800" b="1" dirty="0">
                <a:solidFill>
                  <a:srgbClr val="1C1C1C"/>
                </a:solidFill>
                <a:latin typeface="Georgia"/>
              </a:rPr>
              <a:t>4</a:t>
            </a:r>
            <a:r>
              <a:rPr sz="2800" b="1" i="0" dirty="0">
                <a:solidFill>
                  <a:srgbClr val="1C1C1C"/>
                </a:solidFill>
                <a:latin typeface="Georgia"/>
              </a:rPr>
              <a:t> / </a:t>
            </a:r>
            <a:r>
              <a:rPr lang="en-US" sz="2800" b="1" dirty="0">
                <a:solidFill>
                  <a:srgbClr val="1C1C1C"/>
                </a:solidFill>
                <a:latin typeface="Georgia"/>
              </a:rPr>
              <a:t>Generating new narratives</a:t>
            </a:r>
            <a:endParaRPr sz="2800" b="1" i="0" dirty="0">
              <a:solidFill>
                <a:srgbClr val="1C1C1C"/>
              </a:solidFill>
              <a:latin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FB731B-2451-3306-8143-E33577AE24FE}"/>
              </a:ext>
            </a:extLst>
          </p:cNvPr>
          <p:cNvSpPr/>
          <p:nvPr/>
        </p:nvSpPr>
        <p:spPr>
          <a:xfrm>
            <a:off x="457200" y="1280160"/>
            <a:ext cx="11277295" cy="1270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AF2625-A391-6BAD-7354-655430E6F88B}"/>
              </a:ext>
            </a:extLst>
          </p:cNvPr>
          <p:cNvSpPr/>
          <p:nvPr/>
        </p:nvSpPr>
        <p:spPr>
          <a:xfrm>
            <a:off x="11247120" y="5943600"/>
            <a:ext cx="411480" cy="41148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F9DB0E-B51F-D192-08D5-D11FE55921E5}"/>
              </a:ext>
            </a:extLst>
          </p:cNvPr>
          <p:cNvSpPr/>
          <p:nvPr/>
        </p:nvSpPr>
        <p:spPr>
          <a:xfrm>
            <a:off x="11283696" y="5980176"/>
            <a:ext cx="338328" cy="338328"/>
          </a:xfrm>
          <a:prstGeom prst="rect">
            <a:avLst/>
          </a:prstGeom>
          <a:noFill/>
          <a:ln w="127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00C14B-13EC-29F9-2597-F26A16CFD615}"/>
              </a:ext>
            </a:extLst>
          </p:cNvPr>
          <p:cNvSpPr txBox="1"/>
          <p:nvPr/>
        </p:nvSpPr>
        <p:spPr>
          <a:xfrm>
            <a:off x="1403735" y="1550670"/>
            <a:ext cx="938422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lang="en-US" sz="1500" dirty="0">
                <a:solidFill>
                  <a:srgbClr val="1C1C1C"/>
                </a:solidFill>
                <a:latin typeface="Arial"/>
              </a:rPr>
              <a:t>The platform acts as an active curatorial assistant. By tagging works dynamically, it suggests compelling exhibition groupings adapted to specific international gallery spaces and curatorial themes.</a:t>
            </a:r>
            <a:endParaRPr sz="1400" b="0" i="0" dirty="0">
              <a:solidFill>
                <a:srgbClr val="1C1C1C"/>
              </a:solidFill>
              <a:latin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404108-C924-5BCD-A553-7D87A3D07E3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9647" y="2307808"/>
            <a:ext cx="7772400" cy="41844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E73D1F-D1FE-BF11-3203-2F73413BA5B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45903" y="5934958"/>
            <a:ext cx="412697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615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583C1A-829F-C57A-2B2D-2F81251C7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FB7A1D-3F76-7EE5-6A40-96B3DE53549C}"/>
              </a:ext>
            </a:extLst>
          </p:cNvPr>
          <p:cNvSpPr/>
          <p:nvPr/>
        </p:nvSpPr>
        <p:spPr>
          <a:xfrm>
            <a:off x="1097280" y="2286000"/>
            <a:ext cx="457200" cy="4572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981260-5240-C826-75C7-E786F2DC54A8}"/>
              </a:ext>
            </a:extLst>
          </p:cNvPr>
          <p:cNvSpPr/>
          <p:nvPr/>
        </p:nvSpPr>
        <p:spPr>
          <a:xfrm>
            <a:off x="1133856" y="2322576"/>
            <a:ext cx="384048" cy="384048"/>
          </a:xfrm>
          <a:prstGeom prst="rect">
            <a:avLst/>
          </a:prstGeom>
          <a:noFill/>
          <a:ln w="127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A7289D-DFBA-2476-3BEB-B1C01E8AB49B}"/>
              </a:ext>
            </a:extLst>
          </p:cNvPr>
          <p:cNvSpPr txBox="1"/>
          <p:nvPr/>
        </p:nvSpPr>
        <p:spPr>
          <a:xfrm>
            <a:off x="1097280" y="2926080"/>
            <a:ext cx="100584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 dirty="0">
                <a:solidFill>
                  <a:srgbClr val="B22222"/>
                </a:solidFill>
                <a:latin typeface="Arial"/>
              </a:rPr>
              <a:t>SECTION 0</a:t>
            </a:r>
            <a:r>
              <a:rPr lang="en-US" sz="1200" b="1" i="0" dirty="0">
                <a:solidFill>
                  <a:srgbClr val="B22222"/>
                </a:solidFill>
                <a:latin typeface="Arial"/>
              </a:rPr>
              <a:t>2</a:t>
            </a:r>
            <a:endParaRPr sz="1200" b="1" i="0" dirty="0">
              <a:solidFill>
                <a:srgbClr val="B22222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lang="en-US" sz="3800" b="1" dirty="0">
                <a:solidFill>
                  <a:srgbClr val="FAF9F6"/>
                </a:solidFill>
                <a:latin typeface="Georgia"/>
              </a:rPr>
              <a:t>KEY BENEFITS TO DIGITALIZATION</a:t>
            </a:r>
          </a:p>
          <a:p>
            <a:pPr>
              <a:spcAft>
                <a:spcPts val="800"/>
              </a:spcAft>
            </a:pPr>
            <a:r>
              <a:rPr lang="en-US" sz="1400" i="1" dirty="0">
                <a:solidFill>
                  <a:srgbClr val="8C8C8C"/>
                </a:solidFill>
                <a:latin typeface="Arial"/>
              </a:rPr>
              <a:t>An organized and standardized digital twin allowing to broaden the art reach.</a:t>
            </a:r>
            <a:endParaRPr sz="1400" b="0" i="1" dirty="0">
              <a:solidFill>
                <a:srgbClr val="8C8C8C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3915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95386-6CE6-495D-F58F-ACF90C7D1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620B25-29FE-D82C-EFFD-5CDE77ED910F}"/>
              </a:ext>
            </a:extLst>
          </p:cNvPr>
          <p:cNvSpPr txBox="1"/>
          <p:nvPr/>
        </p:nvSpPr>
        <p:spPr>
          <a:xfrm>
            <a:off x="457200" y="365760"/>
            <a:ext cx="11277295" cy="65659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1000" b="1" i="0" dirty="0">
                <a:solidFill>
                  <a:srgbClr val="B22222"/>
                </a:solidFill>
                <a:latin typeface="Arial"/>
              </a:rPr>
              <a:t>SECTION 2</a:t>
            </a:r>
            <a:endParaRPr sz="1000" b="1" i="0" dirty="0">
              <a:solidFill>
                <a:srgbClr val="B22222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2800" b="1" i="0" dirty="0">
                <a:solidFill>
                  <a:srgbClr val="1C1C1C"/>
                </a:solidFill>
                <a:latin typeface="Georgia"/>
              </a:rPr>
              <a:t>01 / </a:t>
            </a:r>
            <a:r>
              <a:rPr lang="en-US" sz="2800" b="1" dirty="0">
                <a:solidFill>
                  <a:srgbClr val="1C1C1C"/>
                </a:solidFill>
                <a:latin typeface="Georgia"/>
              </a:rPr>
              <a:t>Preserving the physicality</a:t>
            </a:r>
            <a:endParaRPr sz="2800" b="1" i="0" dirty="0">
              <a:solidFill>
                <a:srgbClr val="1C1C1C"/>
              </a:solidFill>
              <a:latin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D179A4-BAFF-FBF2-CBDA-0B9EBB2A2F6D}"/>
              </a:ext>
            </a:extLst>
          </p:cNvPr>
          <p:cNvSpPr/>
          <p:nvPr/>
        </p:nvSpPr>
        <p:spPr>
          <a:xfrm>
            <a:off x="457200" y="1280160"/>
            <a:ext cx="11277295" cy="1270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6C953F-1C9D-281E-5CE0-DFB83C2041D2}"/>
              </a:ext>
            </a:extLst>
          </p:cNvPr>
          <p:cNvSpPr txBox="1"/>
          <p:nvPr/>
        </p:nvSpPr>
        <p:spPr>
          <a:xfrm>
            <a:off x="457200" y="1645920"/>
            <a:ext cx="11277295" cy="4057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200" b="1" i="0" dirty="0">
                <a:solidFill>
                  <a:srgbClr val="1C1C1C"/>
                </a:solidFill>
                <a:latin typeface="Georgia"/>
              </a:rPr>
              <a:t>Exhaustive reporting</a:t>
            </a:r>
            <a:endParaRPr sz="2200" b="1" i="0" dirty="0">
              <a:solidFill>
                <a:srgbClr val="1C1C1C"/>
              </a:solidFill>
              <a:latin typeface="Georgia"/>
            </a:endParaRPr>
          </a:p>
          <a:p>
            <a:pPr marL="285750" indent="-285750">
              <a:spcAft>
                <a:spcPts val="14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C1C1C"/>
                </a:solidFill>
                <a:latin typeface="Arial"/>
              </a:rPr>
              <a:t>Conservation status and detailed condition report</a:t>
            </a:r>
          </a:p>
          <a:p>
            <a:pPr marL="285750" indent="-285750">
              <a:spcAft>
                <a:spcPts val="14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1C1C1C"/>
                </a:solidFill>
                <a:latin typeface="Arial"/>
              </a:rPr>
              <a:t>Material specifications (example: single-layer Xuan vs Korean Hanji)</a:t>
            </a:r>
          </a:p>
          <a:p>
            <a:pPr marL="285750" indent="-285750">
              <a:spcAft>
                <a:spcPts val="14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C1C1C"/>
                </a:solidFill>
                <a:latin typeface="Arial"/>
              </a:rPr>
              <a:t>Exact frame dimensions and unframed</a:t>
            </a:r>
          </a:p>
          <a:p>
            <a:pPr marL="285750" indent="-285750">
              <a:spcAft>
                <a:spcPts val="14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1C1C1C"/>
                </a:solidFill>
                <a:latin typeface="Arial"/>
              </a:rPr>
              <a:t>International shipping</a:t>
            </a:r>
            <a:r>
              <a:rPr lang="en-US" sz="1500" dirty="0">
                <a:solidFill>
                  <a:srgbClr val="1C1C1C"/>
                </a:solidFill>
                <a:latin typeface="Arial"/>
              </a:rPr>
              <a:t>: crating and customs requirements</a:t>
            </a:r>
          </a:p>
          <a:p>
            <a:pPr marL="285750" indent="-285750">
              <a:spcAft>
                <a:spcPts val="14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1C1C1C"/>
                </a:solidFill>
                <a:latin typeface="Arial"/>
              </a:rPr>
              <a:t>Following international standards for the curating job: </a:t>
            </a:r>
          </a:p>
          <a:p>
            <a:pPr marL="742950" lvl="1" indent="-285750">
              <a:spcAft>
                <a:spcPts val="14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C1C1C"/>
                </a:solidFill>
                <a:latin typeface="Arial"/>
              </a:rPr>
              <a:t>Core Data Structures (what): </a:t>
            </a:r>
            <a:r>
              <a:rPr lang="en-US" sz="1500" b="0" i="0" dirty="0">
                <a:solidFill>
                  <a:srgbClr val="1C1C1C"/>
                </a:solidFill>
                <a:latin typeface="Arial"/>
              </a:rPr>
              <a:t>CDWA / VRA Core / LIDO</a:t>
            </a:r>
          </a:p>
          <a:p>
            <a:pPr marL="742950" lvl="1" indent="-285750">
              <a:spcAft>
                <a:spcPts val="14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C1C1C"/>
                </a:solidFill>
                <a:latin typeface="Arial"/>
              </a:rPr>
              <a:t>Content Standards (how): COO</a:t>
            </a:r>
          </a:p>
          <a:p>
            <a:pPr marL="742950" lvl="1" indent="-285750">
              <a:spcAft>
                <a:spcPts val="14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1C1C1C"/>
                </a:solidFill>
                <a:latin typeface="Arial"/>
              </a:rPr>
              <a:t>Controlled vocabulary and Authority files: AAT / ULAN / TGN</a:t>
            </a:r>
          </a:p>
          <a:p>
            <a:pPr marL="742950" lvl="1" indent="-285750">
              <a:spcAft>
                <a:spcPts val="14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C1C1C"/>
                </a:solidFill>
                <a:latin typeface="Arial"/>
              </a:rPr>
              <a:t>Taiwan used standards: Dublin Core / MICI / </a:t>
            </a:r>
            <a:r>
              <a:rPr lang="en-US" sz="1500" dirty="0" err="1">
                <a:solidFill>
                  <a:srgbClr val="1C1C1C"/>
                </a:solidFill>
                <a:latin typeface="Arial"/>
              </a:rPr>
              <a:t>Metalogy</a:t>
            </a:r>
            <a:endParaRPr sz="1400" b="0" i="0" dirty="0">
              <a:solidFill>
                <a:srgbClr val="1C1C1C"/>
              </a:solidFill>
              <a:latin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756813-9846-AAED-CACE-545B524604B0}"/>
              </a:ext>
            </a:extLst>
          </p:cNvPr>
          <p:cNvSpPr/>
          <p:nvPr/>
        </p:nvSpPr>
        <p:spPr>
          <a:xfrm>
            <a:off x="11247120" y="5943600"/>
            <a:ext cx="411480" cy="41148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B2BD0E-9165-3DB2-59CC-ABA2F46EB4A7}"/>
              </a:ext>
            </a:extLst>
          </p:cNvPr>
          <p:cNvSpPr/>
          <p:nvPr/>
        </p:nvSpPr>
        <p:spPr>
          <a:xfrm>
            <a:off x="11283696" y="5980176"/>
            <a:ext cx="338328" cy="338328"/>
          </a:xfrm>
          <a:prstGeom prst="rect">
            <a:avLst/>
          </a:prstGeom>
          <a:noFill/>
          <a:ln w="127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6D1590-3FC4-DABF-CB51-7A2D06D3F56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45903" y="5934958"/>
            <a:ext cx="412697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68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761CB-87E5-DAFE-4CE2-E3B77EC4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5C9153-74E8-F593-7257-6752417BAD0C}"/>
              </a:ext>
            </a:extLst>
          </p:cNvPr>
          <p:cNvSpPr txBox="1"/>
          <p:nvPr/>
        </p:nvSpPr>
        <p:spPr>
          <a:xfrm>
            <a:off x="457200" y="365760"/>
            <a:ext cx="11277295" cy="65659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1000" b="1" i="0" dirty="0">
                <a:solidFill>
                  <a:srgbClr val="B22222"/>
                </a:solidFill>
                <a:latin typeface="Arial"/>
              </a:rPr>
              <a:t>SECTION 2</a:t>
            </a:r>
            <a:endParaRPr sz="1000" b="1" i="0" dirty="0">
              <a:solidFill>
                <a:srgbClr val="B22222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2800" b="1" i="0" dirty="0">
                <a:solidFill>
                  <a:srgbClr val="1C1C1C"/>
                </a:solidFill>
                <a:latin typeface="Georgia"/>
              </a:rPr>
              <a:t>0</a:t>
            </a:r>
            <a:r>
              <a:rPr lang="en-US" sz="2800" b="1" i="0" dirty="0">
                <a:solidFill>
                  <a:srgbClr val="1C1C1C"/>
                </a:solidFill>
                <a:latin typeface="Georgia"/>
              </a:rPr>
              <a:t>2</a:t>
            </a:r>
            <a:r>
              <a:rPr sz="2800" b="1" i="0" dirty="0">
                <a:solidFill>
                  <a:srgbClr val="1C1C1C"/>
                </a:solidFill>
                <a:latin typeface="Georgia"/>
              </a:rPr>
              <a:t> / </a:t>
            </a:r>
            <a:r>
              <a:rPr lang="en-US" sz="2800" b="1" dirty="0">
                <a:solidFill>
                  <a:srgbClr val="1C1C1C"/>
                </a:solidFill>
                <a:latin typeface="Georgia"/>
              </a:rPr>
              <a:t>Curatorial control</a:t>
            </a:r>
            <a:endParaRPr sz="2800" b="1" i="0" dirty="0">
              <a:solidFill>
                <a:srgbClr val="1C1C1C"/>
              </a:solidFill>
              <a:latin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0911C3-89AF-03C6-8417-C8E7D8D5B520}"/>
              </a:ext>
            </a:extLst>
          </p:cNvPr>
          <p:cNvSpPr/>
          <p:nvPr/>
        </p:nvSpPr>
        <p:spPr>
          <a:xfrm>
            <a:off x="457200" y="1280160"/>
            <a:ext cx="11277295" cy="1270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C0F4E8-B647-31BA-DF84-CD479225D1C0}"/>
              </a:ext>
            </a:extLst>
          </p:cNvPr>
          <p:cNvSpPr txBox="1"/>
          <p:nvPr/>
        </p:nvSpPr>
        <p:spPr>
          <a:xfrm>
            <a:off x="457200" y="1645920"/>
            <a:ext cx="11277295" cy="1610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200" b="1" i="0" dirty="0">
                <a:solidFill>
                  <a:srgbClr val="1C1C1C"/>
                </a:solidFill>
                <a:latin typeface="Georgia"/>
              </a:rPr>
              <a:t>Empowering editors to shape the narrative</a:t>
            </a:r>
            <a:endParaRPr sz="2200" b="1" i="0" dirty="0">
              <a:solidFill>
                <a:srgbClr val="1C1C1C"/>
              </a:solidFill>
              <a:latin typeface="Georgia"/>
            </a:endParaRPr>
          </a:p>
          <a:p>
            <a:pPr marL="285750" indent="-285750">
              <a:spcAft>
                <a:spcPts val="14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C1C1C"/>
                </a:solidFill>
                <a:latin typeface="Arial"/>
              </a:rPr>
              <a:t>Curate and group showcased works specifically for upcoming international exhibitions.</a:t>
            </a:r>
          </a:p>
          <a:p>
            <a:pPr marL="285750" indent="-285750">
              <a:spcAft>
                <a:spcPts val="14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C1C1C"/>
                </a:solidFill>
                <a:latin typeface="Arial"/>
              </a:rPr>
              <a:t>Toggle public visibility on/off for individual pieces instantly.</a:t>
            </a:r>
          </a:p>
          <a:p>
            <a:pPr marL="285750" indent="-285750">
              <a:spcAft>
                <a:spcPts val="14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C1C1C"/>
                </a:solidFill>
                <a:latin typeface="Arial"/>
              </a:rPr>
              <a:t>Customize and lock in translated public titles and descriptions prior to any global launch.</a:t>
            </a:r>
            <a:endParaRPr sz="1400" b="0" i="0" dirty="0">
              <a:solidFill>
                <a:srgbClr val="1C1C1C"/>
              </a:solidFill>
              <a:latin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08F09F-1AFB-B4CC-12DB-B68CEEAA5C2F}"/>
              </a:ext>
            </a:extLst>
          </p:cNvPr>
          <p:cNvSpPr/>
          <p:nvPr/>
        </p:nvSpPr>
        <p:spPr>
          <a:xfrm>
            <a:off x="11247120" y="5943600"/>
            <a:ext cx="411480" cy="41148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187054-C9D7-0769-6F32-B38C6A32CC92}"/>
              </a:ext>
            </a:extLst>
          </p:cNvPr>
          <p:cNvSpPr/>
          <p:nvPr/>
        </p:nvSpPr>
        <p:spPr>
          <a:xfrm>
            <a:off x="11283696" y="5980176"/>
            <a:ext cx="338328" cy="338328"/>
          </a:xfrm>
          <a:prstGeom prst="rect">
            <a:avLst/>
          </a:prstGeom>
          <a:noFill/>
          <a:ln w="127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6DE74C-6FC9-68EC-ABF0-3F6E6FC5FFF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45903" y="5934958"/>
            <a:ext cx="412697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728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5ED6F-C0A9-D332-F73A-CCEBE1EE9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196680-FD65-3CC2-68AC-A8164DF898B3}"/>
              </a:ext>
            </a:extLst>
          </p:cNvPr>
          <p:cNvSpPr txBox="1"/>
          <p:nvPr/>
        </p:nvSpPr>
        <p:spPr>
          <a:xfrm>
            <a:off x="457200" y="365760"/>
            <a:ext cx="11277295" cy="65659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1000" b="1" i="0" dirty="0">
                <a:solidFill>
                  <a:srgbClr val="B22222"/>
                </a:solidFill>
                <a:latin typeface="Arial"/>
              </a:rPr>
              <a:t>SECTION 2</a:t>
            </a:r>
            <a:endParaRPr sz="1000" b="1" i="0" dirty="0">
              <a:solidFill>
                <a:srgbClr val="B22222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2800" b="1" i="0" dirty="0">
                <a:solidFill>
                  <a:srgbClr val="1C1C1C"/>
                </a:solidFill>
                <a:latin typeface="Georgia"/>
              </a:rPr>
              <a:t>0</a:t>
            </a:r>
            <a:r>
              <a:rPr lang="en-US" sz="2800" b="1" dirty="0">
                <a:solidFill>
                  <a:srgbClr val="1C1C1C"/>
                </a:solidFill>
                <a:latin typeface="Georgia"/>
              </a:rPr>
              <a:t>3</a:t>
            </a:r>
            <a:r>
              <a:rPr sz="2800" b="1" i="0" dirty="0">
                <a:solidFill>
                  <a:srgbClr val="1C1C1C"/>
                </a:solidFill>
                <a:latin typeface="Georgia"/>
              </a:rPr>
              <a:t> / </a:t>
            </a:r>
            <a:r>
              <a:rPr lang="en-US" sz="2800" b="1" dirty="0">
                <a:solidFill>
                  <a:srgbClr val="1C1C1C"/>
                </a:solidFill>
                <a:latin typeface="Georgia"/>
              </a:rPr>
              <a:t>The global stage</a:t>
            </a:r>
            <a:endParaRPr sz="2800" b="1" i="0" dirty="0">
              <a:solidFill>
                <a:srgbClr val="1C1C1C"/>
              </a:solidFill>
              <a:latin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E2B2DE-1C0A-2D71-DBB0-4C0DD69E26C0}"/>
              </a:ext>
            </a:extLst>
          </p:cNvPr>
          <p:cNvSpPr/>
          <p:nvPr/>
        </p:nvSpPr>
        <p:spPr>
          <a:xfrm>
            <a:off x="457200" y="1280160"/>
            <a:ext cx="11277295" cy="1270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68C7A5-C2DA-8506-66D8-A304788106C8}"/>
              </a:ext>
            </a:extLst>
          </p:cNvPr>
          <p:cNvSpPr txBox="1"/>
          <p:nvPr/>
        </p:nvSpPr>
        <p:spPr>
          <a:xfrm>
            <a:off x="457200" y="1645920"/>
            <a:ext cx="11277295" cy="2021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200" b="1" i="0" dirty="0">
                <a:solidFill>
                  <a:srgbClr val="1C1C1C"/>
                </a:solidFill>
                <a:latin typeface="Georgia"/>
              </a:rPr>
              <a:t>Dual language to capture international curators</a:t>
            </a:r>
            <a:endParaRPr sz="2200" b="1" i="0" dirty="0">
              <a:solidFill>
                <a:srgbClr val="1C1C1C"/>
              </a:solidFill>
              <a:latin typeface="Georgia"/>
            </a:endParaRPr>
          </a:p>
          <a:p>
            <a:pPr marL="285750" indent="-285750">
              <a:spcAft>
                <a:spcPts val="14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C1C1C"/>
                </a:solidFill>
                <a:latin typeface="Arial"/>
              </a:rPr>
              <a:t>High-resolution, immersive digital galleries.</a:t>
            </a:r>
          </a:p>
          <a:p>
            <a:pPr marL="285750" indent="-285750">
              <a:spcAft>
                <a:spcPts val="14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C1C1C"/>
                </a:solidFill>
                <a:latin typeface="Arial"/>
              </a:rPr>
              <a:t>Interactive timeline mapping Lee An-Cheng's life and artistic evolution.</a:t>
            </a:r>
          </a:p>
          <a:p>
            <a:pPr marL="285750" indent="-285750">
              <a:spcAft>
                <a:spcPts val="14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C1C1C"/>
                </a:solidFill>
                <a:latin typeface="Arial"/>
              </a:rPr>
              <a:t>Bi-lingual artist biography tailored specifically for the global art market</a:t>
            </a:r>
          </a:p>
          <a:p>
            <a:pPr marL="285750" indent="-285750">
              <a:spcAft>
                <a:spcPts val="14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C1C1C"/>
                </a:solidFill>
                <a:latin typeface="Arial"/>
              </a:rPr>
              <a:t>English, Traditional Chinese expandable to French</a:t>
            </a:r>
            <a:endParaRPr sz="1400" b="0" i="0" dirty="0">
              <a:solidFill>
                <a:srgbClr val="1C1C1C"/>
              </a:solidFill>
              <a:latin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9C6FCF-8836-16D8-DF57-D9BFAAA378DB}"/>
              </a:ext>
            </a:extLst>
          </p:cNvPr>
          <p:cNvSpPr/>
          <p:nvPr/>
        </p:nvSpPr>
        <p:spPr>
          <a:xfrm>
            <a:off x="11247120" y="5943600"/>
            <a:ext cx="411480" cy="41148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8270C6-61D8-EE05-3815-4E1DF9EF63C2}"/>
              </a:ext>
            </a:extLst>
          </p:cNvPr>
          <p:cNvSpPr/>
          <p:nvPr/>
        </p:nvSpPr>
        <p:spPr>
          <a:xfrm>
            <a:off x="11283696" y="5980176"/>
            <a:ext cx="338328" cy="338328"/>
          </a:xfrm>
          <a:prstGeom prst="rect">
            <a:avLst/>
          </a:prstGeom>
          <a:noFill/>
          <a:ln w="127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A2B340-DA64-33D0-EBD6-0BC683D6531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45903" y="5934958"/>
            <a:ext cx="412697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157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3EE6DB-439B-D54A-4527-C2B0F6699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900360-9B94-D4DB-F9AE-5246E80FC571}"/>
              </a:ext>
            </a:extLst>
          </p:cNvPr>
          <p:cNvSpPr/>
          <p:nvPr/>
        </p:nvSpPr>
        <p:spPr>
          <a:xfrm>
            <a:off x="1097280" y="2286000"/>
            <a:ext cx="457200" cy="4572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D95FBE-9DB7-E6D0-9359-51EE0D356001}"/>
              </a:ext>
            </a:extLst>
          </p:cNvPr>
          <p:cNvSpPr/>
          <p:nvPr/>
        </p:nvSpPr>
        <p:spPr>
          <a:xfrm>
            <a:off x="1133856" y="2322576"/>
            <a:ext cx="384048" cy="384048"/>
          </a:xfrm>
          <a:prstGeom prst="rect">
            <a:avLst/>
          </a:prstGeom>
          <a:noFill/>
          <a:ln w="127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3894BF-D83F-FB3D-1A1F-114E5F611C42}"/>
              </a:ext>
            </a:extLst>
          </p:cNvPr>
          <p:cNvSpPr txBox="1"/>
          <p:nvPr/>
        </p:nvSpPr>
        <p:spPr>
          <a:xfrm>
            <a:off x="1097280" y="2926080"/>
            <a:ext cx="100584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 dirty="0">
                <a:solidFill>
                  <a:srgbClr val="B22222"/>
                </a:solidFill>
                <a:latin typeface="Arial"/>
              </a:rPr>
              <a:t>SECTION 0</a:t>
            </a:r>
            <a:r>
              <a:rPr lang="en-US" sz="1200" b="1" dirty="0">
                <a:solidFill>
                  <a:srgbClr val="B22222"/>
                </a:solidFill>
                <a:latin typeface="Arial"/>
              </a:rPr>
              <a:t>3</a:t>
            </a:r>
            <a:endParaRPr sz="1200" b="1" i="0" dirty="0">
              <a:solidFill>
                <a:srgbClr val="B22222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lang="en-US" sz="3800" b="1" dirty="0">
                <a:solidFill>
                  <a:srgbClr val="FAF9F6"/>
                </a:solidFill>
                <a:latin typeface="Georgia"/>
              </a:rPr>
              <a:t>PATH TO THE LAUNCH</a:t>
            </a:r>
          </a:p>
          <a:p>
            <a:pPr>
              <a:spcAft>
                <a:spcPts val="800"/>
              </a:spcAft>
            </a:pPr>
            <a:r>
              <a:rPr lang="en-US" sz="1400" i="1" dirty="0">
                <a:solidFill>
                  <a:srgbClr val="8C8C8C"/>
                </a:solidFill>
                <a:latin typeface="Arial"/>
              </a:rPr>
              <a:t>A well scoped project </a:t>
            </a:r>
            <a:endParaRPr sz="1400" b="0" i="1" dirty="0">
              <a:solidFill>
                <a:srgbClr val="8C8C8C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5721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65659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 dirty="0">
                <a:solidFill>
                  <a:srgbClr val="B22222"/>
                </a:solidFill>
                <a:latin typeface="Arial"/>
              </a:rPr>
              <a:t>TIMELINE LAYOUTS</a:t>
            </a:r>
          </a:p>
          <a:p>
            <a:pPr>
              <a:spcAft>
                <a:spcPts val="600"/>
              </a:spcAft>
            </a:pPr>
            <a:r>
              <a:rPr lang="en-US" sz="2800" b="1" i="0" dirty="0">
                <a:solidFill>
                  <a:srgbClr val="1C1C1C"/>
                </a:solidFill>
                <a:latin typeface="Georgia"/>
              </a:rPr>
              <a:t>01 / Path to launch in 2026</a:t>
            </a:r>
            <a:endParaRPr sz="2800" b="1" i="0" dirty="0">
              <a:solidFill>
                <a:srgbClr val="1C1C1C"/>
              </a:solidFill>
              <a:latin typeface="Georgi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1270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2743200"/>
            <a:ext cx="11277295" cy="2540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554480" y="2606040"/>
            <a:ext cx="320040" cy="3200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5207" y="3096707"/>
            <a:ext cx="1478585" cy="805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sz="1100" b="1" i="0" dirty="0">
                <a:solidFill>
                  <a:schemeClr val="bg1"/>
                </a:solidFill>
                <a:latin typeface="Arial"/>
              </a:rPr>
              <a:t>SEPTEMBER</a:t>
            </a:r>
          </a:p>
          <a:p>
            <a:pPr algn="ctr">
              <a:spcAft>
                <a:spcPts val="200"/>
              </a:spcAft>
            </a:pPr>
            <a:endParaRPr lang="en-US" sz="1600" b="1" dirty="0">
              <a:solidFill>
                <a:schemeClr val="bg1"/>
              </a:solidFill>
              <a:latin typeface="Georgia"/>
            </a:endParaRPr>
          </a:p>
          <a:p>
            <a:pPr algn="ctr">
              <a:spcAft>
                <a:spcPts val="200"/>
              </a:spcAft>
            </a:pPr>
            <a:r>
              <a:rPr lang="en-US" sz="1600" b="1" dirty="0">
                <a:solidFill>
                  <a:schemeClr val="bg1"/>
                </a:solidFill>
                <a:latin typeface="Georgia"/>
              </a:rPr>
              <a:t>LAUNCH</a:t>
            </a:r>
            <a:endParaRPr lang="en-US" sz="11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7" name="Oval 6"/>
          <p:cNvSpPr/>
          <p:nvPr/>
        </p:nvSpPr>
        <p:spPr>
          <a:xfrm>
            <a:off x="4389120" y="2606040"/>
            <a:ext cx="320040" cy="3200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223760" y="2606040"/>
            <a:ext cx="320040" cy="3200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0" y="2606040"/>
            <a:ext cx="320040" cy="320040"/>
          </a:xfrm>
          <a:prstGeom prst="ellipse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247120" y="5943600"/>
            <a:ext cx="411480" cy="41148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283696" y="5980176"/>
            <a:ext cx="338328" cy="338328"/>
          </a:xfrm>
          <a:prstGeom prst="rect">
            <a:avLst/>
          </a:prstGeom>
          <a:noFill/>
          <a:ln w="127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665403-A9F7-318A-2EBF-8259171DEA10}"/>
              </a:ext>
            </a:extLst>
          </p:cNvPr>
          <p:cNvSpPr txBox="1"/>
          <p:nvPr/>
        </p:nvSpPr>
        <p:spPr>
          <a:xfrm>
            <a:off x="1271636" y="2134885"/>
            <a:ext cx="8857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 dirty="0">
                <a:solidFill>
                  <a:srgbClr val="B22222"/>
                </a:solidFill>
                <a:latin typeface="Arial"/>
              </a:rPr>
              <a:t>PHASE 0</a:t>
            </a:r>
            <a:r>
              <a:rPr lang="en-US" sz="1100" b="1" i="0" dirty="0">
                <a:solidFill>
                  <a:srgbClr val="B22222"/>
                </a:solidFill>
                <a:latin typeface="Arial"/>
              </a:rPr>
              <a:t>1</a:t>
            </a:r>
            <a:endParaRPr sz="1100" b="1" i="0" dirty="0">
              <a:solidFill>
                <a:srgbClr val="B22222"/>
              </a:solidFill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E84624-DA82-9C31-05F0-F0A4D56359BC}"/>
              </a:ext>
            </a:extLst>
          </p:cNvPr>
          <p:cNvSpPr txBox="1"/>
          <p:nvPr/>
        </p:nvSpPr>
        <p:spPr>
          <a:xfrm>
            <a:off x="4129136" y="2134885"/>
            <a:ext cx="8857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 dirty="0">
                <a:solidFill>
                  <a:srgbClr val="B22222"/>
                </a:solidFill>
                <a:latin typeface="Arial"/>
              </a:rPr>
              <a:t>PHASE 0</a:t>
            </a:r>
            <a:r>
              <a:rPr lang="en-US" sz="1100" b="1" i="0" dirty="0">
                <a:solidFill>
                  <a:srgbClr val="B22222"/>
                </a:solidFill>
                <a:latin typeface="Arial"/>
              </a:rPr>
              <a:t>2</a:t>
            </a:r>
            <a:endParaRPr sz="1100" b="1" i="0" dirty="0">
              <a:solidFill>
                <a:srgbClr val="B22222"/>
              </a:solidFill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081A39-3E30-139F-B340-06DB7B12FB7E}"/>
              </a:ext>
            </a:extLst>
          </p:cNvPr>
          <p:cNvSpPr txBox="1"/>
          <p:nvPr/>
        </p:nvSpPr>
        <p:spPr>
          <a:xfrm>
            <a:off x="6940916" y="2132484"/>
            <a:ext cx="8857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 dirty="0">
                <a:solidFill>
                  <a:srgbClr val="B22222"/>
                </a:solidFill>
                <a:latin typeface="Arial"/>
              </a:rPr>
              <a:t>PHASE 0</a:t>
            </a:r>
            <a:r>
              <a:rPr lang="en-US" sz="1100" b="1" i="0" dirty="0">
                <a:solidFill>
                  <a:srgbClr val="B22222"/>
                </a:solidFill>
                <a:latin typeface="Arial"/>
              </a:rPr>
              <a:t>3</a:t>
            </a:r>
            <a:endParaRPr sz="1100" b="1" i="0" dirty="0">
              <a:solidFill>
                <a:srgbClr val="B22222"/>
              </a:solidFill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369BC4-F038-846F-9063-396C2E5EB1B0}"/>
              </a:ext>
            </a:extLst>
          </p:cNvPr>
          <p:cNvSpPr txBox="1"/>
          <p:nvPr/>
        </p:nvSpPr>
        <p:spPr>
          <a:xfrm>
            <a:off x="9752696" y="2132484"/>
            <a:ext cx="8857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 dirty="0">
                <a:solidFill>
                  <a:srgbClr val="B22222"/>
                </a:solidFill>
                <a:latin typeface="Arial"/>
              </a:rPr>
              <a:t>PHASE 0</a:t>
            </a:r>
            <a:r>
              <a:rPr lang="en-US" sz="1100" b="1" i="0" dirty="0">
                <a:solidFill>
                  <a:srgbClr val="B22222"/>
                </a:solidFill>
                <a:latin typeface="Arial"/>
              </a:rPr>
              <a:t>4</a:t>
            </a:r>
            <a:endParaRPr sz="1100" b="1" i="0" dirty="0">
              <a:solidFill>
                <a:srgbClr val="B22222"/>
              </a:solidFill>
              <a:latin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6CBD98-DDD1-C930-F82D-21FCFC69959E}"/>
              </a:ext>
            </a:extLst>
          </p:cNvPr>
          <p:cNvSpPr txBox="1"/>
          <p:nvPr/>
        </p:nvSpPr>
        <p:spPr>
          <a:xfrm>
            <a:off x="3832707" y="3093607"/>
            <a:ext cx="1478585" cy="805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sz="1100" b="1" i="0" dirty="0">
                <a:solidFill>
                  <a:schemeClr val="bg1"/>
                </a:solidFill>
                <a:latin typeface="Arial"/>
              </a:rPr>
              <a:t>OCTOBER</a:t>
            </a:r>
          </a:p>
          <a:p>
            <a:pPr algn="ctr">
              <a:spcAft>
                <a:spcPts val="200"/>
              </a:spcAft>
            </a:pPr>
            <a:endParaRPr lang="en-US" sz="1600" b="1" dirty="0">
              <a:solidFill>
                <a:schemeClr val="bg1"/>
              </a:solidFill>
              <a:latin typeface="Georgia"/>
            </a:endParaRPr>
          </a:p>
          <a:p>
            <a:pPr algn="ctr">
              <a:spcAft>
                <a:spcPts val="200"/>
              </a:spcAft>
            </a:pPr>
            <a:r>
              <a:rPr lang="en-US" sz="1600" b="1" dirty="0">
                <a:solidFill>
                  <a:schemeClr val="bg1"/>
                </a:solidFill>
                <a:latin typeface="Georgia"/>
              </a:rPr>
              <a:t>VAULT</a:t>
            </a:r>
            <a:endParaRPr lang="en-US" sz="11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C55C80-6F1F-8DA2-2CDD-A617C284EB3C}"/>
              </a:ext>
            </a:extLst>
          </p:cNvPr>
          <p:cNvSpPr txBox="1"/>
          <p:nvPr/>
        </p:nvSpPr>
        <p:spPr>
          <a:xfrm>
            <a:off x="6644487" y="3093606"/>
            <a:ext cx="1478585" cy="805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sz="1100" b="1" i="0" dirty="0">
                <a:solidFill>
                  <a:schemeClr val="bg1"/>
                </a:solidFill>
                <a:latin typeface="Arial"/>
              </a:rPr>
              <a:t>NOVEMBER</a:t>
            </a:r>
          </a:p>
          <a:p>
            <a:pPr algn="ctr">
              <a:spcAft>
                <a:spcPts val="200"/>
              </a:spcAft>
            </a:pPr>
            <a:endParaRPr lang="en-US" sz="1600" b="1" dirty="0">
              <a:solidFill>
                <a:schemeClr val="bg1"/>
              </a:solidFill>
              <a:latin typeface="Georgia"/>
            </a:endParaRPr>
          </a:p>
          <a:p>
            <a:pPr algn="ctr">
              <a:spcAft>
                <a:spcPts val="200"/>
              </a:spcAft>
            </a:pPr>
            <a:r>
              <a:rPr lang="en-US" sz="1600" b="1" dirty="0">
                <a:solidFill>
                  <a:schemeClr val="bg1"/>
                </a:solidFill>
                <a:latin typeface="Georgia"/>
              </a:rPr>
              <a:t>GALLERY</a:t>
            </a:r>
            <a:endParaRPr lang="en-US" sz="11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31D199-DC7E-36AD-2BEE-87934B015D06}"/>
              </a:ext>
            </a:extLst>
          </p:cNvPr>
          <p:cNvSpPr txBox="1"/>
          <p:nvPr/>
        </p:nvSpPr>
        <p:spPr>
          <a:xfrm>
            <a:off x="9456267" y="3093605"/>
            <a:ext cx="1478585" cy="805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sz="1100" b="1" i="0" dirty="0">
                <a:solidFill>
                  <a:schemeClr val="bg1"/>
                </a:solidFill>
                <a:latin typeface="Arial"/>
              </a:rPr>
              <a:t>DECEMBER</a:t>
            </a:r>
          </a:p>
          <a:p>
            <a:pPr algn="ctr">
              <a:spcAft>
                <a:spcPts val="200"/>
              </a:spcAft>
            </a:pPr>
            <a:endParaRPr lang="en-US" sz="1600" b="1" dirty="0">
              <a:solidFill>
                <a:schemeClr val="bg1"/>
              </a:solidFill>
              <a:latin typeface="Georgia"/>
            </a:endParaRPr>
          </a:p>
          <a:p>
            <a:pPr algn="ctr">
              <a:spcAft>
                <a:spcPts val="200"/>
              </a:spcAft>
            </a:pPr>
            <a:r>
              <a:rPr lang="en-US" sz="1600" b="1" dirty="0">
                <a:solidFill>
                  <a:schemeClr val="bg1"/>
                </a:solidFill>
                <a:latin typeface="Georgia"/>
              </a:rPr>
              <a:t>TEST</a:t>
            </a:r>
            <a:endParaRPr lang="en-US" sz="1100" b="1" dirty="0">
              <a:solidFill>
                <a:schemeClr val="bg1"/>
              </a:solidFill>
              <a:latin typeface="Arial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C6C74BA-5C02-2084-F0BF-423A451B45D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45903" y="5934958"/>
            <a:ext cx="412697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65659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1000" b="1" i="0" dirty="0">
                <a:solidFill>
                  <a:srgbClr val="B22222"/>
                </a:solidFill>
                <a:latin typeface="Arial"/>
              </a:rPr>
              <a:t>TIMELINE</a:t>
            </a:r>
            <a:r>
              <a:rPr sz="1000" b="1" i="0" dirty="0">
                <a:solidFill>
                  <a:srgbClr val="B22222"/>
                </a:solidFill>
                <a:latin typeface="Arial"/>
              </a:rPr>
              <a:t> LAYOUTS</a:t>
            </a:r>
          </a:p>
          <a:p>
            <a:pPr>
              <a:spcAft>
                <a:spcPts val="600"/>
              </a:spcAft>
            </a:pPr>
            <a:r>
              <a:rPr lang="en-US" sz="2800" b="1" dirty="0">
                <a:solidFill>
                  <a:srgbClr val="1C1C1C"/>
                </a:solidFill>
                <a:latin typeface="Georgia"/>
              </a:rPr>
              <a:t>02 / </a:t>
            </a:r>
            <a:r>
              <a:rPr sz="2800" b="1" i="0" dirty="0">
                <a:solidFill>
                  <a:srgbClr val="1C1C1C"/>
                </a:solidFill>
                <a:latin typeface="Georgia"/>
              </a:rPr>
              <a:t>Multi-Factor Specification Grid 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1270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2383641"/>
            <a:ext cx="2560320" cy="2926080"/>
          </a:xfrm>
          <a:prstGeom prst="rect">
            <a:avLst/>
          </a:prstGeom>
          <a:solidFill>
            <a:srgbClr val="FAF9F6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0" rIns="182880" rtlCol="0" anchor="ctr"/>
          <a:lstStyle/>
          <a:p>
            <a:pPr algn="ctr">
              <a:spcAft>
                <a:spcPts val="400"/>
              </a:spcAft>
            </a:pPr>
            <a:r>
              <a:rPr lang="en-US" sz="2800" b="1" i="0" dirty="0">
                <a:solidFill>
                  <a:srgbClr val="1C1C1C"/>
                </a:solidFill>
                <a:latin typeface="Georgia"/>
              </a:rPr>
              <a:t>LAUNCH</a:t>
            </a:r>
            <a:endParaRPr sz="2800" b="1" i="0" dirty="0">
              <a:solidFill>
                <a:srgbClr val="1C1C1C"/>
              </a:solidFill>
              <a:latin typeface="Georgia"/>
            </a:endParaRPr>
          </a:p>
          <a:p>
            <a:pPr>
              <a:spcAft>
                <a:spcPts val="800"/>
              </a:spcAft>
            </a:pPr>
            <a:r>
              <a:rPr sz="1100" b="1" i="0" dirty="0">
                <a:solidFill>
                  <a:srgbClr val="B22222"/>
                </a:solidFill>
                <a:latin typeface="Arial"/>
              </a:rPr>
              <a:t>[ </a:t>
            </a:r>
            <a:r>
              <a:rPr lang="en-US" sz="1100" b="1" i="0" dirty="0">
                <a:solidFill>
                  <a:srgbClr val="B22222"/>
                </a:solidFill>
                <a:latin typeface="Arial"/>
              </a:rPr>
              <a:t>SEPTEMBER</a:t>
            </a:r>
            <a:r>
              <a:rPr sz="1100" b="1" i="0" dirty="0">
                <a:solidFill>
                  <a:srgbClr val="B22222"/>
                </a:solidFill>
                <a:latin typeface="Arial"/>
              </a:rPr>
              <a:t> ]</a:t>
            </a:r>
          </a:p>
          <a:p>
            <a:r>
              <a:rPr lang="en-US" sz="1200" dirty="0">
                <a:solidFill>
                  <a:srgbClr val="8C8C8C"/>
                </a:solidFill>
                <a:latin typeface="Arial"/>
              </a:rPr>
              <a:t>Database schema design</a:t>
            </a:r>
          </a:p>
          <a:p>
            <a:r>
              <a:rPr lang="en-US" sz="1200" dirty="0">
                <a:solidFill>
                  <a:srgbClr val="8C8C8C"/>
                </a:solidFill>
                <a:latin typeface="Arial"/>
              </a:rPr>
              <a:t>Secure hosting environment</a:t>
            </a:r>
          </a:p>
          <a:p>
            <a:r>
              <a:rPr lang="en-US" sz="1200" dirty="0">
                <a:solidFill>
                  <a:srgbClr val="8C8C8C"/>
                </a:solidFill>
                <a:latin typeface="Arial"/>
              </a:rPr>
              <a:t>Bulk high-resolution image import</a:t>
            </a:r>
          </a:p>
          <a:p>
            <a:r>
              <a:rPr lang="en-US" sz="1200" dirty="0">
                <a:solidFill>
                  <a:srgbClr val="8C8C8C"/>
                </a:solidFill>
                <a:latin typeface="Arial"/>
              </a:rPr>
              <a:t>(Targeting the 52 key cataloged</a:t>
            </a:r>
          </a:p>
          <a:p>
            <a:r>
              <a:rPr lang="en-US" sz="1200" dirty="0">
                <a:solidFill>
                  <a:srgbClr val="8C8C8C"/>
                </a:solidFill>
                <a:latin typeface="Arial"/>
              </a:rPr>
              <a:t>paintings spanning 1979-2000s).</a:t>
            </a:r>
            <a:endParaRPr sz="1200" b="0" i="0" dirty="0">
              <a:solidFill>
                <a:srgbClr val="8C8C8C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91840" y="2383641"/>
            <a:ext cx="2560320" cy="2926080"/>
          </a:xfrm>
          <a:prstGeom prst="rect">
            <a:avLst/>
          </a:prstGeom>
          <a:solidFill>
            <a:srgbClr val="FAF9F6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0" rIns="182880" rtlCol="0" anchor="ctr"/>
          <a:lstStyle/>
          <a:p>
            <a:pPr algn="ctr">
              <a:spcAft>
                <a:spcPts val="400"/>
              </a:spcAft>
            </a:pPr>
            <a:r>
              <a:rPr lang="en-US" sz="2800" b="1" i="0" dirty="0">
                <a:solidFill>
                  <a:srgbClr val="1C1C1C"/>
                </a:solidFill>
                <a:latin typeface="Georgia"/>
              </a:rPr>
              <a:t>VAULT</a:t>
            </a:r>
            <a:endParaRPr sz="2800" b="1" i="0" dirty="0">
              <a:solidFill>
                <a:srgbClr val="1C1C1C"/>
              </a:solidFill>
              <a:latin typeface="Georgia"/>
            </a:endParaRPr>
          </a:p>
          <a:p>
            <a:pPr>
              <a:spcAft>
                <a:spcPts val="800"/>
              </a:spcAft>
            </a:pPr>
            <a:r>
              <a:rPr sz="1100" b="1" i="0" dirty="0">
                <a:solidFill>
                  <a:srgbClr val="B22222"/>
                </a:solidFill>
                <a:latin typeface="Arial"/>
              </a:rPr>
              <a:t>[ </a:t>
            </a:r>
            <a:r>
              <a:rPr lang="en-US" sz="1100" b="1" dirty="0">
                <a:solidFill>
                  <a:srgbClr val="B22222"/>
                </a:solidFill>
                <a:latin typeface="Arial"/>
              </a:rPr>
              <a:t>OCTOBER </a:t>
            </a:r>
            <a:r>
              <a:rPr sz="1100" b="1" i="0" dirty="0">
                <a:solidFill>
                  <a:srgbClr val="B22222"/>
                </a:solidFill>
                <a:latin typeface="Arial"/>
              </a:rPr>
              <a:t>]</a:t>
            </a:r>
          </a:p>
          <a:p>
            <a:r>
              <a:rPr lang="en-US" sz="1200" dirty="0">
                <a:solidFill>
                  <a:srgbClr val="8C8C8C"/>
                </a:solidFill>
                <a:latin typeface="Arial"/>
              </a:rPr>
              <a:t>Admin portal development and user interface design.</a:t>
            </a:r>
          </a:p>
          <a:p>
            <a:r>
              <a:rPr lang="en-US" sz="1200" dirty="0">
                <a:solidFill>
                  <a:srgbClr val="8C8C8C"/>
                </a:solidFill>
                <a:latin typeface="Arial"/>
              </a:rPr>
              <a:t>Role configuration and security</a:t>
            </a:r>
          </a:p>
          <a:p>
            <a:r>
              <a:rPr lang="en-US" sz="1200" dirty="0">
                <a:solidFill>
                  <a:srgbClr val="8C8C8C"/>
                </a:solidFill>
                <a:latin typeface="Arial"/>
              </a:rPr>
              <a:t>permissions (Admins / Editors).</a:t>
            </a:r>
          </a:p>
          <a:p>
            <a:r>
              <a:rPr lang="en-US" sz="1200" dirty="0">
                <a:solidFill>
                  <a:srgbClr val="8C8C8C"/>
                </a:solidFill>
                <a:latin typeface="Arial"/>
              </a:rPr>
              <a:t>Implementation of the private</a:t>
            </a:r>
          </a:p>
          <a:p>
            <a:r>
              <a:rPr lang="en-US" sz="1200" dirty="0">
                <a:solidFill>
                  <a:srgbClr val="8C8C8C"/>
                </a:solidFill>
                <a:latin typeface="Arial"/>
              </a:rPr>
              <a:t>ownership, location, and transit</a:t>
            </a:r>
          </a:p>
          <a:p>
            <a:r>
              <a:rPr lang="en-US" sz="1200" dirty="0">
                <a:solidFill>
                  <a:srgbClr val="8C8C8C"/>
                </a:solidFill>
                <a:latin typeface="Arial"/>
              </a:rPr>
              <a:t>tracking modules.</a:t>
            </a:r>
            <a:endParaRPr sz="1200" b="0" i="0" dirty="0">
              <a:solidFill>
                <a:srgbClr val="8C8C8C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26480" y="2383641"/>
            <a:ext cx="2560320" cy="2926080"/>
          </a:xfrm>
          <a:prstGeom prst="rect">
            <a:avLst/>
          </a:prstGeom>
          <a:solidFill>
            <a:srgbClr val="FAF9F6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0" rIns="182880" rtlCol="0" anchor="ctr"/>
          <a:lstStyle/>
          <a:p>
            <a:pPr algn="ctr">
              <a:spcAft>
                <a:spcPts val="400"/>
              </a:spcAft>
            </a:pPr>
            <a:r>
              <a:rPr lang="en-US" sz="2800" b="1" i="0" dirty="0">
                <a:solidFill>
                  <a:srgbClr val="1C1C1C"/>
                </a:solidFill>
                <a:latin typeface="Georgia"/>
              </a:rPr>
              <a:t>GALLERY</a:t>
            </a:r>
            <a:endParaRPr sz="2800" b="1" i="0" dirty="0">
              <a:solidFill>
                <a:srgbClr val="1C1C1C"/>
              </a:solidFill>
              <a:latin typeface="Georgia"/>
            </a:endParaRPr>
          </a:p>
          <a:p>
            <a:pPr>
              <a:spcAft>
                <a:spcPts val="800"/>
              </a:spcAft>
            </a:pPr>
            <a:r>
              <a:rPr sz="1100" b="1" i="0" dirty="0">
                <a:solidFill>
                  <a:srgbClr val="B22222"/>
                </a:solidFill>
                <a:latin typeface="Arial"/>
              </a:rPr>
              <a:t>[ </a:t>
            </a:r>
            <a:r>
              <a:rPr lang="en-US" sz="1100" b="1" i="0" dirty="0">
                <a:solidFill>
                  <a:srgbClr val="B22222"/>
                </a:solidFill>
                <a:latin typeface="Arial"/>
              </a:rPr>
              <a:t>NOVEMBER </a:t>
            </a:r>
            <a:r>
              <a:rPr sz="1100" b="1" i="0" dirty="0">
                <a:solidFill>
                  <a:srgbClr val="B22222"/>
                </a:solidFill>
                <a:latin typeface="Arial"/>
              </a:rPr>
              <a:t>]</a:t>
            </a:r>
          </a:p>
          <a:p>
            <a:r>
              <a:rPr lang="en-US" sz="1200" b="0" i="0" dirty="0">
                <a:solidFill>
                  <a:srgbClr val="8C8C8C"/>
                </a:solidFill>
                <a:latin typeface="Arial"/>
              </a:rPr>
              <a:t>Public facing website design and user experience development.</a:t>
            </a:r>
            <a:br>
              <a:rPr lang="en-US" sz="1200" b="0" i="0" dirty="0">
                <a:solidFill>
                  <a:srgbClr val="8C8C8C"/>
                </a:solidFill>
                <a:latin typeface="Arial"/>
              </a:rPr>
            </a:br>
            <a:r>
              <a:rPr lang="en-US" sz="1200" b="0" i="0" dirty="0">
                <a:solidFill>
                  <a:srgbClr val="8C8C8C"/>
                </a:solidFill>
                <a:latin typeface="Arial"/>
              </a:rPr>
              <a:t>Integration of the interactive timeline.</a:t>
            </a:r>
            <a:br>
              <a:rPr lang="en-US" sz="1200" b="0" i="0" dirty="0">
                <a:solidFill>
                  <a:srgbClr val="8C8C8C"/>
                </a:solidFill>
                <a:latin typeface="Arial"/>
              </a:rPr>
            </a:br>
            <a:r>
              <a:rPr lang="en-US" sz="1200" b="0" i="0" dirty="0">
                <a:solidFill>
                  <a:srgbClr val="8C8C8C"/>
                </a:solidFill>
                <a:latin typeface="Arial"/>
              </a:rPr>
              <a:t>Showcase selection module.</a:t>
            </a:r>
          </a:p>
          <a:p>
            <a:endParaRPr sz="1200" b="0" i="0" dirty="0">
              <a:solidFill>
                <a:srgbClr val="8C8C8C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961120" y="2383641"/>
            <a:ext cx="2560320" cy="2926080"/>
          </a:xfrm>
          <a:prstGeom prst="rect">
            <a:avLst/>
          </a:prstGeom>
          <a:solidFill>
            <a:srgbClr val="FAF9F6"/>
          </a:solidFill>
          <a:ln w="1905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0" rIns="182880" rtlCol="0" anchor="ctr"/>
          <a:lstStyle/>
          <a:p>
            <a:pPr algn="ctr">
              <a:spcAft>
                <a:spcPts val="400"/>
              </a:spcAft>
            </a:pPr>
            <a:r>
              <a:rPr lang="en-US" sz="2800" b="1" dirty="0">
                <a:solidFill>
                  <a:srgbClr val="1C1C1C"/>
                </a:solidFill>
                <a:latin typeface="Georgia"/>
              </a:rPr>
              <a:t>REFINING LAUNCH</a:t>
            </a:r>
            <a:endParaRPr sz="2800" b="1" i="0" dirty="0">
              <a:solidFill>
                <a:srgbClr val="1C1C1C"/>
              </a:solidFill>
              <a:latin typeface="Georgia"/>
            </a:endParaRPr>
          </a:p>
          <a:p>
            <a:pPr>
              <a:spcAft>
                <a:spcPts val="800"/>
              </a:spcAft>
            </a:pPr>
            <a:r>
              <a:rPr sz="1100" b="1" i="0" dirty="0">
                <a:solidFill>
                  <a:srgbClr val="B22222"/>
                </a:solidFill>
                <a:latin typeface="Arial"/>
              </a:rPr>
              <a:t>[ </a:t>
            </a:r>
            <a:r>
              <a:rPr lang="en-US" sz="1100" b="1" dirty="0">
                <a:solidFill>
                  <a:srgbClr val="B22222"/>
                </a:solidFill>
                <a:latin typeface="Arial"/>
              </a:rPr>
              <a:t>DECEMBER</a:t>
            </a:r>
            <a:r>
              <a:rPr sz="1100" b="1" i="0" dirty="0">
                <a:solidFill>
                  <a:srgbClr val="B22222"/>
                </a:solidFill>
                <a:latin typeface="Arial"/>
              </a:rPr>
              <a:t> ]</a:t>
            </a:r>
          </a:p>
          <a:p>
            <a:r>
              <a:rPr lang="en-US" sz="1200" b="0" i="0" dirty="0">
                <a:solidFill>
                  <a:srgbClr val="8C8C8C"/>
                </a:solidFill>
                <a:latin typeface="Arial"/>
              </a:rPr>
              <a:t>3-4 weeks content review and adjustments.</a:t>
            </a:r>
            <a:br>
              <a:rPr lang="en-US" sz="1200" b="0" i="0" dirty="0">
                <a:solidFill>
                  <a:srgbClr val="8C8C8C"/>
                </a:solidFill>
                <a:latin typeface="Arial"/>
              </a:rPr>
            </a:br>
            <a:r>
              <a:rPr lang="en-US" sz="1200" b="0" i="0" dirty="0">
                <a:solidFill>
                  <a:srgbClr val="8C8C8C"/>
                </a:solidFill>
                <a:latin typeface="Arial"/>
              </a:rPr>
              <a:t>Final security testing and quality assurance.</a:t>
            </a:r>
            <a:br>
              <a:rPr lang="en-US" sz="1200" b="0" i="0" dirty="0">
                <a:solidFill>
                  <a:srgbClr val="8C8C8C"/>
                </a:solidFill>
                <a:latin typeface="Arial"/>
              </a:rPr>
            </a:br>
            <a:r>
              <a:rPr lang="en-US" sz="1200" b="0" i="0" dirty="0">
                <a:solidFill>
                  <a:srgbClr val="C00000"/>
                </a:solidFill>
                <a:latin typeface="Arial"/>
              </a:rPr>
              <a:t>Official global launch.</a:t>
            </a:r>
          </a:p>
          <a:p>
            <a:endParaRPr lang="en-US" sz="1200" b="0" i="0" dirty="0">
              <a:solidFill>
                <a:srgbClr val="8C8C8C"/>
              </a:solidFill>
              <a:latin typeface="Arial"/>
            </a:endParaRPr>
          </a:p>
          <a:p>
            <a:endParaRPr lang="en-US" sz="1200" dirty="0">
              <a:solidFill>
                <a:srgbClr val="8C8C8C"/>
              </a:solidFill>
              <a:latin typeface="Arial"/>
            </a:endParaRPr>
          </a:p>
          <a:p>
            <a:endParaRPr lang="en-US" sz="1200" b="0" i="0" dirty="0">
              <a:solidFill>
                <a:srgbClr val="8C8C8C"/>
              </a:solidFill>
              <a:latin typeface="Arial"/>
            </a:endParaRPr>
          </a:p>
          <a:p>
            <a:endParaRPr sz="1200" b="0" i="0" dirty="0">
              <a:solidFill>
                <a:srgbClr val="8C8C8C"/>
              </a:solidFill>
              <a:latin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247120" y="5943600"/>
            <a:ext cx="411480" cy="41148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283696" y="5980176"/>
            <a:ext cx="338328" cy="338328"/>
          </a:xfrm>
          <a:prstGeom prst="rect">
            <a:avLst/>
          </a:prstGeom>
          <a:noFill/>
          <a:ln w="127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9CD238-8E38-9882-4188-A0FE3E48AE09}"/>
              </a:ext>
            </a:extLst>
          </p:cNvPr>
          <p:cNvSpPr txBox="1"/>
          <p:nvPr/>
        </p:nvSpPr>
        <p:spPr>
          <a:xfrm>
            <a:off x="457200" y="5626120"/>
            <a:ext cx="8503920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lang="en-US" sz="1400" b="0" i="1" dirty="0">
                <a:solidFill>
                  <a:srgbClr val="8C8C8C"/>
                </a:solidFill>
                <a:latin typeface="Arial"/>
              </a:rPr>
              <a:t>This is representing an overall schedule, detailed features and schedule will be defined after discussions and a refined schedule will be provided.</a:t>
            </a:r>
          </a:p>
          <a:p>
            <a:pPr>
              <a:spcAft>
                <a:spcPts val="2000"/>
              </a:spcAft>
            </a:pPr>
            <a:r>
              <a:rPr lang="en-US" sz="1400" i="1" dirty="0">
                <a:solidFill>
                  <a:srgbClr val="8C8C8C"/>
                </a:solidFill>
                <a:latin typeface="Arial"/>
              </a:rPr>
              <a:t>The Launch date is arbitrary and can shift to any date.</a:t>
            </a:r>
            <a:endParaRPr lang="en-US" sz="1400" b="0" i="1" dirty="0">
              <a:solidFill>
                <a:srgbClr val="8C8C8C"/>
              </a:solidFill>
              <a:latin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D04566-7250-F319-364B-6785AE3BA8A1}"/>
              </a:ext>
            </a:extLst>
          </p:cNvPr>
          <p:cNvSpPr txBox="1"/>
          <p:nvPr/>
        </p:nvSpPr>
        <p:spPr>
          <a:xfrm>
            <a:off x="457200" y="1785724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lang="en-US" sz="1400" b="0" i="1" dirty="0">
                <a:solidFill>
                  <a:srgbClr val="8C8C8C"/>
                </a:solidFill>
                <a:latin typeface="Arial"/>
              </a:rPr>
              <a:t>An audit will be done before the launch to evaluate the curating work already accomplished.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064E5E-D0AB-4A53-D617-380011B468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45903" y="5934958"/>
            <a:ext cx="412697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B1C54-9733-4BB1-7702-B94DC440E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C43C34-7126-DB24-7B18-3AE2219F9C14}"/>
              </a:ext>
            </a:extLst>
          </p:cNvPr>
          <p:cNvSpPr txBox="1"/>
          <p:nvPr/>
        </p:nvSpPr>
        <p:spPr>
          <a:xfrm>
            <a:off x="457200" y="365760"/>
            <a:ext cx="11277295" cy="65659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1000" b="1" dirty="0">
                <a:solidFill>
                  <a:srgbClr val="B22222"/>
                </a:solidFill>
                <a:latin typeface="Arial"/>
              </a:rPr>
              <a:t>TIMELINE LAYOUT</a:t>
            </a:r>
            <a:endParaRPr sz="1000" b="1" i="0" dirty="0">
              <a:solidFill>
                <a:srgbClr val="B22222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2800" b="1" i="0" dirty="0">
                <a:solidFill>
                  <a:srgbClr val="1C1C1C"/>
                </a:solidFill>
                <a:latin typeface="Georgia"/>
              </a:rPr>
              <a:t>0</a:t>
            </a:r>
            <a:r>
              <a:rPr lang="en-US" sz="2800" b="1" dirty="0">
                <a:solidFill>
                  <a:srgbClr val="1C1C1C"/>
                </a:solidFill>
                <a:latin typeface="Georgia"/>
              </a:rPr>
              <a:t>3</a:t>
            </a:r>
            <a:r>
              <a:rPr sz="2800" b="1" i="0" dirty="0">
                <a:solidFill>
                  <a:srgbClr val="1C1C1C"/>
                </a:solidFill>
                <a:latin typeface="Georgia"/>
              </a:rPr>
              <a:t> / </a:t>
            </a:r>
            <a:r>
              <a:rPr lang="en-US" sz="2800" b="1" dirty="0">
                <a:solidFill>
                  <a:srgbClr val="1C1C1C"/>
                </a:solidFill>
                <a:latin typeface="Georgia"/>
              </a:rPr>
              <a:t>Next step</a:t>
            </a:r>
            <a:endParaRPr sz="2800" b="1" i="0" dirty="0">
              <a:solidFill>
                <a:srgbClr val="1C1C1C"/>
              </a:solidFill>
              <a:latin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8604D7-64A1-14A3-94D4-417CB1062958}"/>
              </a:ext>
            </a:extLst>
          </p:cNvPr>
          <p:cNvSpPr/>
          <p:nvPr/>
        </p:nvSpPr>
        <p:spPr>
          <a:xfrm>
            <a:off x="457200" y="1280160"/>
            <a:ext cx="11277295" cy="1270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578854-5A8A-BC64-E8ED-DD1028672ECD}"/>
              </a:ext>
            </a:extLst>
          </p:cNvPr>
          <p:cNvSpPr txBox="1"/>
          <p:nvPr/>
        </p:nvSpPr>
        <p:spPr>
          <a:xfrm>
            <a:off x="457200" y="2702594"/>
            <a:ext cx="11277295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200" b="1" i="0" dirty="0">
                <a:solidFill>
                  <a:srgbClr val="1C1C1C"/>
                </a:solidFill>
                <a:latin typeface="Georgia"/>
              </a:rPr>
              <a:t>Finalize high-resolution photography </a:t>
            </a:r>
          </a:p>
          <a:p>
            <a:pPr>
              <a:spcAft>
                <a:spcPts val="1000"/>
              </a:spcAft>
            </a:pPr>
            <a:r>
              <a:rPr lang="en-US" sz="2200" b="1" dirty="0">
                <a:solidFill>
                  <a:srgbClr val="1C1C1C"/>
                </a:solidFill>
                <a:latin typeface="Georgia"/>
              </a:rPr>
              <a:t>Curating database health check, benchmark industry standards</a:t>
            </a:r>
          </a:p>
          <a:p>
            <a:pPr>
              <a:spcAft>
                <a:spcPts val="1000"/>
              </a:spcAft>
            </a:pPr>
            <a:r>
              <a:rPr lang="en-US" sz="2200" b="1" i="0" dirty="0">
                <a:solidFill>
                  <a:srgbClr val="1C1C1C"/>
                </a:solidFill>
                <a:latin typeface="Georgia"/>
              </a:rPr>
              <a:t>Collect initial ownership, data</a:t>
            </a:r>
            <a:r>
              <a:rPr lang="en-US" sz="2200" b="1" dirty="0">
                <a:solidFill>
                  <a:srgbClr val="1C1C1C"/>
                </a:solidFill>
                <a:latin typeface="Georgia"/>
              </a:rPr>
              <a:t> and location of physical pieces</a:t>
            </a:r>
          </a:p>
          <a:p>
            <a:pPr>
              <a:spcAft>
                <a:spcPts val="1000"/>
              </a:spcAft>
            </a:pPr>
            <a:r>
              <a:rPr lang="en-US" sz="2200" b="1" i="0" dirty="0">
                <a:solidFill>
                  <a:srgbClr val="1C1C1C"/>
                </a:solidFill>
                <a:latin typeface="Georgia"/>
              </a:rPr>
              <a:t>Commence Phase 1 database modeling</a:t>
            </a:r>
            <a:endParaRPr sz="2200" b="1" i="0" dirty="0">
              <a:solidFill>
                <a:srgbClr val="1C1C1C"/>
              </a:solidFill>
              <a:latin typeface="Georgi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D7588C-569C-0F6E-FE8E-9FC8543E3965}"/>
              </a:ext>
            </a:extLst>
          </p:cNvPr>
          <p:cNvSpPr/>
          <p:nvPr/>
        </p:nvSpPr>
        <p:spPr>
          <a:xfrm>
            <a:off x="11247120" y="5943600"/>
            <a:ext cx="411480" cy="41148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9FAC08-8541-DFAC-476A-45495F00C4F3}"/>
              </a:ext>
            </a:extLst>
          </p:cNvPr>
          <p:cNvSpPr/>
          <p:nvPr/>
        </p:nvSpPr>
        <p:spPr>
          <a:xfrm>
            <a:off x="11283696" y="5980176"/>
            <a:ext cx="338328" cy="338328"/>
          </a:xfrm>
          <a:prstGeom prst="rect">
            <a:avLst/>
          </a:prstGeom>
          <a:noFill/>
          <a:ln w="127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4EE835-C433-53E8-B903-F0B2493450EE}"/>
              </a:ext>
            </a:extLst>
          </p:cNvPr>
          <p:cNvSpPr txBox="1"/>
          <p:nvPr/>
        </p:nvSpPr>
        <p:spPr>
          <a:xfrm>
            <a:off x="457200" y="1843838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lang="en-US" sz="1400" b="0" i="1" dirty="0">
                <a:solidFill>
                  <a:srgbClr val="8C8C8C"/>
                </a:solidFill>
                <a:latin typeface="Arial"/>
              </a:rPr>
              <a:t>Prior agreement on scope, team resource identification, timeline and cost will be validated by all parties before starting implementation.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75C097-C1DC-5B6F-A975-6CB70587A79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45903" y="5934958"/>
            <a:ext cx="412697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822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F60B4B-2F84-B51C-A63B-D7487D4D3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3C7FD3-CD13-B443-C870-E92E57AC4E88}"/>
              </a:ext>
            </a:extLst>
          </p:cNvPr>
          <p:cNvSpPr/>
          <p:nvPr/>
        </p:nvSpPr>
        <p:spPr>
          <a:xfrm>
            <a:off x="1097280" y="2286000"/>
            <a:ext cx="457200" cy="4572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8FB0EE-578A-0E6E-E46E-DE18DCFE761D}"/>
              </a:ext>
            </a:extLst>
          </p:cNvPr>
          <p:cNvSpPr/>
          <p:nvPr/>
        </p:nvSpPr>
        <p:spPr>
          <a:xfrm>
            <a:off x="1133856" y="2322576"/>
            <a:ext cx="384048" cy="384048"/>
          </a:xfrm>
          <a:prstGeom prst="rect">
            <a:avLst/>
          </a:prstGeom>
          <a:noFill/>
          <a:ln w="127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D95BE5-5FA4-3C8F-5365-84206D245D99}"/>
              </a:ext>
            </a:extLst>
          </p:cNvPr>
          <p:cNvSpPr txBox="1"/>
          <p:nvPr/>
        </p:nvSpPr>
        <p:spPr>
          <a:xfrm>
            <a:off x="1097280" y="2926080"/>
            <a:ext cx="10058400" cy="1744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3800" b="1" dirty="0">
                <a:solidFill>
                  <a:srgbClr val="FAF9F6"/>
                </a:solidFill>
                <a:latin typeface="Georgia"/>
              </a:rPr>
              <a:t>IN HARMONY WITH </a:t>
            </a:r>
          </a:p>
          <a:p>
            <a:pPr>
              <a:spcAft>
                <a:spcPts val="800"/>
              </a:spcAft>
            </a:pPr>
            <a:r>
              <a:rPr lang="en-US" sz="3800" b="1" dirty="0">
                <a:solidFill>
                  <a:srgbClr val="FAF9F6"/>
                </a:solidFill>
                <a:latin typeface="Georgia"/>
              </a:rPr>
              <a:t>LIGHT AND DUST</a:t>
            </a:r>
          </a:p>
          <a:p>
            <a:pPr>
              <a:spcAft>
                <a:spcPts val="800"/>
              </a:spcAft>
            </a:pPr>
            <a:r>
              <a:rPr lang="en-US" i="1" dirty="0">
                <a:solidFill>
                  <a:schemeClr val="bg1"/>
                </a:solidFill>
                <a:latin typeface="Arial"/>
              </a:rPr>
              <a:t>Preserving the legacy of Lee An-Cheng for the world</a:t>
            </a:r>
            <a:endParaRPr b="0" i="1" dirty="0">
              <a:solidFill>
                <a:schemeClr val="bg1"/>
              </a:solid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78BE92-2449-71AD-53CA-C085E45A62E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97280" y="2308860"/>
            <a:ext cx="458552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277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852</Words>
  <Application>Microsoft Macintosh PowerPoint</Application>
  <PresentationFormat>Widescreen</PresentationFormat>
  <Paragraphs>148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greg colombet</cp:lastModifiedBy>
  <cp:revision>12</cp:revision>
  <dcterms:created xsi:type="dcterms:W3CDTF">2013-01-27T09:14:16Z</dcterms:created>
  <dcterms:modified xsi:type="dcterms:W3CDTF">2026-08-22T21:09:51Z</dcterms:modified>
  <cp:category/>
</cp:coreProperties>
</file>